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8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1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2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3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4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5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6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7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18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19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20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21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22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23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257" r:id="rId4"/>
    <p:sldId id="258" r:id="rId5"/>
    <p:sldId id="271" r:id="rId6"/>
    <p:sldId id="259" r:id="rId7"/>
    <p:sldId id="260" r:id="rId8"/>
    <p:sldId id="272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69" r:id="rId26"/>
    <p:sldId id="270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92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1890C7-2248-BCCC-74D9-89C11E3C1011}" name="liangshan fang" initials="lf" userId="a89dad1bb9b01ca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70C1"/>
    <a:srgbClr val="FFC2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90"/>
    <p:restoredTop sz="88417"/>
  </p:normalViewPr>
  <p:slideViewPr>
    <p:cSldViewPr snapToGrid="0" showGuides="1">
      <p:cViewPr varScale="1">
        <p:scale>
          <a:sx n="135" d="100"/>
          <a:sy n="135" d="100"/>
        </p:scale>
        <p:origin x="1616" y="168"/>
      </p:cViewPr>
      <p:guideLst>
        <p:guide orient="horz" pos="1592"/>
        <p:guide pos="29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A0A15-D84F-14F1-8D2D-E8D04BA4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A83F81-EFE4-AB45-562F-4CF1DA2B66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2C4AE-2FC6-2D27-8998-9D7A98DAF0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EC6F997-8AF3-8E63-4F23-E2A5411EF0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66F09AB-66B5-1669-47D6-CB50AC34C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2BF5B-7F17-EA5C-6F80-48EA36E8E2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F4F57-AAC1-085E-870E-5EDA29BFD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26626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93F35-E559-0F44-C168-E1EF27E64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071824-67D6-D94B-EFA5-0742ECE945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D6247-4571-3783-2057-A103F96EE83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4EAA402-8B10-C23B-A422-D3DCAEF75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5D279BA-25B1-2050-E01E-D319FF6A1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BD0B3-90F4-1B43-73EB-5CBFF7AC53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ABD72-76CE-42B0-E723-9A1B6A090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87028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A090F-3F98-03D1-6373-38E3C6472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AE153A-7F8E-1BDE-BD88-ABB2E62221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350A4-E888-3F85-1E0C-06DB7AFC63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EC40BCE-CC35-89B1-3F4C-7EA1DB6C5E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ADB1EAB-ED6B-8DF5-28A6-37F75435CE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56059-C5FD-9547-52D4-506832F11B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49559-D8FC-ABAB-871A-7F19DB41F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301420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69D8-552C-9016-87A5-734099ED6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AA075C-B625-FC27-23C6-A4A3E1B3B9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102E6-95E2-79BF-2259-5C582A0B987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7E5D173-ADCB-E03D-9A2B-94DF1CA320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3319A9B-58C0-CC7E-F059-2B62F0C09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36B39-B7F8-6289-708E-6F8B6D0569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B9551-E043-4CF3-A1E5-C00EE1F40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148513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0D722-BCA7-7066-0CA5-BE05F853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6F05A1-6B0E-104E-B407-5E78023AC4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79B386-9A36-CAE7-71E2-DE00583F7FF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C10456-7514-5989-5A3A-E11FDDE774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C616CEB-DBDB-0D2A-F970-EB718CD65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73EA5-0772-0990-0E82-82746222AB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F8A90-24FC-4176-A329-B5331F551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54404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9AE1-882A-13B3-2654-7AE8555E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A7C594-2511-A5A6-03BE-5AA498172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C60DB-3C11-4A04-305E-F43A8AFC26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DAE7A2-A3CC-F599-AC18-29FF35301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A353BD9-7746-B585-6368-4E941479E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43918-E009-A091-6B55-DA8A10B33A6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9898F-B11F-7DC8-73FF-74BEAD706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09949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90FCA-BA72-A256-89BA-F712E31F3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99B01B-EAC3-8F1A-3635-DF355E83D5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C19F7-8DE1-0219-9260-F0B0F98D2DE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96D8FDF-83E4-B4A1-3CEE-481A47F41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3EBE02A-B514-4148-AE3A-1589BFF21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47B40-19D4-7E58-4203-4E88831D05D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5DC6-128E-8C2B-131A-FE2E9D85B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064589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C829D-8BEA-B7F2-AB3B-73DA9692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1A2B9C-2EFC-6AA0-3E1F-C65713FB0E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4B4CE-2EE6-4FDD-0DA0-26BEF0FDB6A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475856C-AB33-BEF1-6331-AFA43AE5BE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A90283-6289-7C7D-DB80-FF28CCF7B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D45BB-6BD5-0BE4-A488-C710ECDD1D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91C26-996A-896C-8BAF-95042EBC1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897408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ECFEF-03EB-A024-0812-EE3808AC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611CA7-8DD4-256B-7D9E-939953624B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026BAB-1700-82E5-0909-FBB87E6184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710273C-5C05-D8F8-C776-A96E337C03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2E15075-F689-1F7D-F45E-A00BCFF1CC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12A72-DCBB-9C15-C8F3-411F3B2893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11237-8926-A7F9-A9DC-5FDCA0BBC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754149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85A2F-81B5-3BD5-90D2-B3988680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A7ADDD-CE11-F8B4-A196-70BB1AAE95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873DE3-562B-5FAD-B6AA-E3851B79C9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8F0DFD9-0A97-33D3-9936-AD27D0571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0FAD45B-BA39-6DE3-4018-ECB4E8EA6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316F5-82D8-9877-5928-C70FF7C253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5719F-A69D-0336-0E3A-8FF59588C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017033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hyperlink" Target="https://github.com/tianjizn/tianji-robot-SDK/tree/Gento_Skye%2BLuna" TargetMode="External"/><Relationship Id="rId5" Type="http://schemas.openxmlformats.org/officeDocument/2006/relationships/tags" Target="../tags/tag5.xml"/><Relationship Id="rId10" Type="http://schemas.openxmlformats.org/officeDocument/2006/relationships/image" Target="../media/image3.jpeg"/><Relationship Id="rId4" Type="http://schemas.openxmlformats.org/officeDocument/2006/relationships/tags" Target="../tags/tag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5.sv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image" Target="../media/image4.png"/><Relationship Id="rId2" Type="http://schemas.openxmlformats.org/officeDocument/2006/relationships/tags" Target="../tags/tag9.xml"/><Relationship Id="rId16" Type="http://schemas.openxmlformats.org/officeDocument/2006/relationships/image" Target="../media/image8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../media/image3.jpeg"/><Relationship Id="rId5" Type="http://schemas.openxmlformats.org/officeDocument/2006/relationships/tags" Target="../tags/tag12.xml"/><Relationship Id="rId15" Type="http://schemas.openxmlformats.org/officeDocument/2006/relationships/image" Target="../media/image7.svg"/><Relationship Id="rId10" Type="http://schemas.openxmlformats.org/officeDocument/2006/relationships/notesSlide" Target="../notesSlides/notesSlide4.xml"/><Relationship Id="rId4" Type="http://schemas.openxmlformats.org/officeDocument/2006/relationships/tags" Target="../tags/tag11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slideLayout" Target="../slideLayouts/slideLayout12.xml"/><Relationship Id="rId18" Type="http://schemas.openxmlformats.org/officeDocument/2006/relationships/image" Target="../media/image16.png"/><Relationship Id="rId3" Type="http://schemas.openxmlformats.org/officeDocument/2006/relationships/tags" Target="../tags/tag18.xml"/><Relationship Id="rId21" Type="http://schemas.openxmlformats.org/officeDocument/2006/relationships/image" Target="../media/image19.svg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image" Target="../media/image15.svg"/><Relationship Id="rId2" Type="http://schemas.openxmlformats.org/officeDocument/2006/relationships/tags" Target="../tags/tag17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image" Target="../media/image3.jpeg"/><Relationship Id="rId10" Type="http://schemas.openxmlformats.org/officeDocument/2006/relationships/tags" Target="../tags/tag25.xml"/><Relationship Id="rId19" Type="http://schemas.openxmlformats.org/officeDocument/2006/relationships/image" Target="../media/image17.svg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notesSlide" Target="../notesSlides/notesSlide8.xml"/><Relationship Id="rId22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3.jpeg"/><Relationship Id="rId17" Type="http://schemas.openxmlformats.org/officeDocument/2006/relationships/image" Target="../media/image25.png"/><Relationship Id="rId2" Type="http://schemas.openxmlformats.org/officeDocument/2006/relationships/tags" Target="../tags/tag29.xml"/><Relationship Id="rId16" Type="http://schemas.openxmlformats.org/officeDocument/2006/relationships/image" Target="../media/image24.svg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notesSlide" Target="../notesSlides/notesSlide9.xml"/><Relationship Id="rId5" Type="http://schemas.openxmlformats.org/officeDocument/2006/relationships/tags" Target="../tags/tag32.xml"/><Relationship Id="rId15" Type="http://schemas.openxmlformats.org/officeDocument/2006/relationships/image" Target="../media/image23.png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27.png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3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10.svg"/><Relationship Id="rId4" Type="http://schemas.openxmlformats.org/officeDocument/2006/relationships/image" Target="../media/image28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image" Target="../media/image33.png"/><Relationship Id="rId18" Type="http://schemas.openxmlformats.org/officeDocument/2006/relationships/image" Target="../media/image36.svg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image" Target="../media/image3.jpeg"/><Relationship Id="rId17" Type="http://schemas.openxmlformats.org/officeDocument/2006/relationships/image" Target="../media/image35.png"/><Relationship Id="rId2" Type="http://schemas.openxmlformats.org/officeDocument/2006/relationships/tags" Target="../tags/tag38.xml"/><Relationship Id="rId16" Type="http://schemas.openxmlformats.org/officeDocument/2006/relationships/image" Target="../media/image22.svg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notesSlide" Target="../notesSlides/notesSlide11.xml"/><Relationship Id="rId5" Type="http://schemas.openxmlformats.org/officeDocument/2006/relationships/tags" Target="../tags/tag41.xml"/><Relationship Id="rId15" Type="http://schemas.openxmlformats.org/officeDocument/2006/relationships/image" Target="../media/image21.png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37.png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38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13" Type="http://schemas.openxmlformats.org/officeDocument/2006/relationships/image" Target="../media/image42.svg"/><Relationship Id="rId3" Type="http://schemas.openxmlformats.org/officeDocument/2006/relationships/tags" Target="../tags/tag50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41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40.svg"/><Relationship Id="rId5" Type="http://schemas.openxmlformats.org/officeDocument/2006/relationships/tags" Target="../tags/tag52.xml"/><Relationship Id="rId10" Type="http://schemas.openxmlformats.org/officeDocument/2006/relationships/image" Target="../media/image39.png"/><Relationship Id="rId4" Type="http://schemas.openxmlformats.org/officeDocument/2006/relationships/tags" Target="../tags/tag51.xml"/><Relationship Id="rId9" Type="http://schemas.openxmlformats.org/officeDocument/2006/relationships/image" Target="../media/image3.jpeg"/><Relationship Id="rId1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image" Target="../media/image3.jpeg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notesSlide" Target="../notesSlides/notesSlide14.xml"/><Relationship Id="rId2" Type="http://schemas.openxmlformats.org/officeDocument/2006/relationships/tags" Target="../tags/tag55.xml"/><Relationship Id="rId16" Type="http://schemas.openxmlformats.org/officeDocument/2006/relationships/image" Target="../media/image46.png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slideLayout" Target="../slideLayouts/slideLayout12.xml"/><Relationship Id="rId5" Type="http://schemas.openxmlformats.org/officeDocument/2006/relationships/tags" Target="../tags/tag58.xml"/><Relationship Id="rId15" Type="http://schemas.openxmlformats.org/officeDocument/2006/relationships/image" Target="../media/image45.svg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26" Type="http://schemas.openxmlformats.org/officeDocument/2006/relationships/image" Target="../media/image51.png"/><Relationship Id="rId3" Type="http://schemas.openxmlformats.org/officeDocument/2006/relationships/tags" Target="../tags/tag66.xml"/><Relationship Id="rId21" Type="http://schemas.openxmlformats.org/officeDocument/2006/relationships/image" Target="../media/image3.jpeg"/><Relationship Id="rId34" Type="http://schemas.openxmlformats.org/officeDocument/2006/relationships/image" Target="../media/image57.jpeg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image" Target="../media/image50.svg"/><Relationship Id="rId33" Type="http://schemas.openxmlformats.org/officeDocument/2006/relationships/image" Target="../media/image56.svg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notesSlide" Target="../notesSlides/notesSlide15.xml"/><Relationship Id="rId29" Type="http://schemas.openxmlformats.org/officeDocument/2006/relationships/image" Target="../media/image54.sv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24" Type="http://schemas.openxmlformats.org/officeDocument/2006/relationships/image" Target="../media/image49.png"/><Relationship Id="rId32" Type="http://schemas.openxmlformats.org/officeDocument/2006/relationships/image" Target="../media/image55.png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image" Target="../media/image48.svg"/><Relationship Id="rId28" Type="http://schemas.openxmlformats.org/officeDocument/2006/relationships/image" Target="../media/image53.png"/><Relationship Id="rId10" Type="http://schemas.openxmlformats.org/officeDocument/2006/relationships/tags" Target="../tags/tag73.xml"/><Relationship Id="rId19" Type="http://schemas.openxmlformats.org/officeDocument/2006/relationships/slideLayout" Target="../slideLayouts/slideLayout12.xml"/><Relationship Id="rId31" Type="http://schemas.openxmlformats.org/officeDocument/2006/relationships/image" Target="../media/image32.svg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image" Target="../media/image47.png"/><Relationship Id="rId27" Type="http://schemas.openxmlformats.org/officeDocument/2006/relationships/image" Target="../media/image52.svg"/><Relationship Id="rId30" Type="http://schemas.openxmlformats.org/officeDocument/2006/relationships/image" Target="../media/image31.png"/><Relationship Id="rId8" Type="http://schemas.openxmlformats.org/officeDocument/2006/relationships/tags" Target="../tags/tag7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58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59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3" Type="http://schemas.openxmlformats.org/officeDocument/2006/relationships/tags" Target="../tags/tag88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10" Type="http://schemas.openxmlformats.org/officeDocument/2006/relationships/image" Target="../media/image60.png"/><Relationship Id="rId4" Type="http://schemas.openxmlformats.org/officeDocument/2006/relationships/tags" Target="../tags/tag89.xml"/><Relationship Id="rId9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tags" Target="../tags/tag94.xml"/><Relationship Id="rId7" Type="http://schemas.openxmlformats.org/officeDocument/2006/relationships/image" Target="../media/image3.jpe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9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61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image" Target="../media/image61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7" Type="http://schemas.openxmlformats.org/officeDocument/2006/relationships/image" Target="../media/image62.png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image" Target="../media/image3.jpeg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7" Type="http://schemas.openxmlformats.org/officeDocument/2006/relationships/image" Target="../media/image62.pn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3.jpeg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18" Type="http://schemas.openxmlformats.org/officeDocument/2006/relationships/image" Target="../media/image3.jpeg"/><Relationship Id="rId26" Type="http://schemas.openxmlformats.org/officeDocument/2006/relationships/image" Target="../media/image70.png"/><Relationship Id="rId3" Type="http://schemas.openxmlformats.org/officeDocument/2006/relationships/tags" Target="../tags/tag108.xml"/><Relationship Id="rId21" Type="http://schemas.openxmlformats.org/officeDocument/2006/relationships/image" Target="../media/image65.svg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17" Type="http://schemas.openxmlformats.org/officeDocument/2006/relationships/notesSlide" Target="../notesSlides/notesSlide24.xml"/><Relationship Id="rId25" Type="http://schemas.openxmlformats.org/officeDocument/2006/relationships/image" Target="../media/image69.svg"/><Relationship Id="rId2" Type="http://schemas.openxmlformats.org/officeDocument/2006/relationships/tags" Target="../tags/tag107.xml"/><Relationship Id="rId16" Type="http://schemas.openxmlformats.org/officeDocument/2006/relationships/slideLayout" Target="../slideLayouts/slideLayout12.xml"/><Relationship Id="rId20" Type="http://schemas.openxmlformats.org/officeDocument/2006/relationships/image" Target="../media/image64.png"/><Relationship Id="rId29" Type="http://schemas.openxmlformats.org/officeDocument/2006/relationships/image" Target="../media/image73.svg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24" Type="http://schemas.openxmlformats.org/officeDocument/2006/relationships/image" Target="../media/image68.png"/><Relationship Id="rId5" Type="http://schemas.openxmlformats.org/officeDocument/2006/relationships/tags" Target="../tags/tag110.xml"/><Relationship Id="rId15" Type="http://schemas.openxmlformats.org/officeDocument/2006/relationships/tags" Target="../tags/tag120.xml"/><Relationship Id="rId23" Type="http://schemas.openxmlformats.org/officeDocument/2006/relationships/image" Target="../media/image67.svg"/><Relationship Id="rId28" Type="http://schemas.openxmlformats.org/officeDocument/2006/relationships/image" Target="../media/image72.png"/><Relationship Id="rId10" Type="http://schemas.openxmlformats.org/officeDocument/2006/relationships/tags" Target="../tags/tag115.xml"/><Relationship Id="rId19" Type="http://schemas.openxmlformats.org/officeDocument/2006/relationships/image" Target="../media/image63.jpeg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Relationship Id="rId22" Type="http://schemas.openxmlformats.org/officeDocument/2006/relationships/image" Target="../media/image66.png"/><Relationship Id="rId27" Type="http://schemas.openxmlformats.org/officeDocument/2006/relationships/image" Target="../media/image71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svg"/><Relationship Id="rId3" Type="http://schemas.openxmlformats.org/officeDocument/2006/relationships/image" Target="../media/image3.jpeg"/><Relationship Id="rId7" Type="http://schemas.openxmlformats.org/officeDocument/2006/relationships/image" Target="../media/image77.sv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11" Type="http://schemas.openxmlformats.org/officeDocument/2006/relationships/image" Target="../media/image81.svg"/><Relationship Id="rId5" Type="http://schemas.openxmlformats.org/officeDocument/2006/relationships/image" Target="../media/image75.svg"/><Relationship Id="rId15" Type="http://schemas.openxmlformats.org/officeDocument/2006/relationships/image" Target="../media/image85.sv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svg"/><Relationship Id="rId1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  <a:alpha val="6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GentoPlatform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3565401"/>
            <a:ext cx="762000" cy="762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5400" dirty="0">
                <a:solidFill>
                  <a:srgbClr val="DEEAF1"/>
                </a:solidFill>
                <a:latin typeface="+mj-ea"/>
              </a:rPr>
              <a:t>软件产品使用说明书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604981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sz="1800" dirty="0">
                <a:solidFill>
                  <a:schemeClr val="bg1"/>
                </a:solidFill>
                <a:latin typeface="STHeiti Light"/>
              </a:rPr>
              <a:t>基础操作与上手使用</a:t>
            </a:r>
          </a:p>
        </p:txBody>
      </p:sp>
      <p:pic>
        <p:nvPicPr>
          <p:cNvPr id="7" name="Picture 46" descr="卡通画&#10;&#10;AI 生成的内容可能不正确。">
            <a:extLst>
              <a:ext uri="{FF2B5EF4-FFF2-40B4-BE49-F238E27FC236}">
                <a16:creationId xmlns:a16="http://schemas.microsoft.com/office/drawing/2014/main" id="{7693EDAB-A20F-EFD2-3743-F283BC81260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16000" y="1473517"/>
            <a:ext cx="2551405" cy="685483"/>
          </a:xfrm>
          <a:prstGeom prst="rect">
            <a:avLst/>
          </a:prstGeom>
          <a:noFill/>
        </p:spPr>
      </p:pic>
      <p:sp>
        <p:nvSpPr>
          <p:cNvPr id="9" name="AutoShape 6">
            <a:extLst>
              <a:ext uri="{FF2B5EF4-FFF2-40B4-BE49-F238E27FC236}">
                <a16:creationId xmlns:a16="http://schemas.microsoft.com/office/drawing/2014/main" id="{9FD779A4-C5AD-A8D1-FD83-9AC182E1E632}"/>
              </a:ext>
            </a:extLst>
          </p:cNvPr>
          <p:cNvSpPr/>
          <p:nvPr/>
        </p:nvSpPr>
        <p:spPr>
          <a:xfrm>
            <a:off x="1016000" y="6096000"/>
            <a:ext cx="604981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STHeiti Light"/>
              </a:rPr>
              <a:t>版本：基于</a:t>
            </a:r>
            <a:r>
              <a:rPr lang="en" altLang="zh-CN" sz="1600" dirty="0">
                <a:solidFill>
                  <a:schemeClr val="bg1">
                    <a:lumMod val="75000"/>
                  </a:schemeClr>
                </a:solidFill>
                <a:latin typeface="STHeiti Light"/>
              </a:rPr>
              <a:t>SDK1004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STHeiti Light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644E8B93-9707-0257-D833-DC552F1C9EB8}"/>
              </a:ext>
            </a:extLst>
          </p:cNvPr>
          <p:cNvSpPr/>
          <p:nvPr/>
        </p:nvSpPr>
        <p:spPr>
          <a:xfrm>
            <a:off x="5126182" y="6096000"/>
            <a:ext cx="604981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r"/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STHeiti Light"/>
              </a:rPr>
              <a:t>2026/06/25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STHeit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05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635500" y="1905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18500" y="1905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4572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4572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379439-FD75-14D6-69BB-2E00FF5E8F18}"/>
              </a:ext>
            </a:extLst>
          </p:cNvPr>
          <p:cNvSpPr txBox="1"/>
          <p:nvPr/>
        </p:nvSpPr>
        <p:spPr>
          <a:xfrm>
            <a:off x="1905000" y="2039543"/>
            <a:ext cx="20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调试准备</a:t>
            </a:r>
            <a:endParaRPr kumimoji="1" lang="zh-CN" altLang="en-US" sz="18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E3160E-BF01-8D71-79FD-639ED204DA28}"/>
              </a:ext>
            </a:extLst>
          </p:cNvPr>
          <p:cNvSpPr txBox="1"/>
          <p:nvPr/>
        </p:nvSpPr>
        <p:spPr>
          <a:xfrm>
            <a:off x="1905000" y="2538307"/>
            <a:ext cx="2032000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与安装运行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连接机器人与排查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23379439-FD75-14D6-69BB-2E00FF5E8F18}"/>
              </a:ext>
            </a:extLst>
          </p:cNvPr>
          <p:cNvSpPr txBox="1"/>
          <p:nvPr/>
        </p:nvSpPr>
        <p:spPr>
          <a:xfrm>
            <a:off x="5588000" y="2039543"/>
            <a:ext cx="20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 sz="1800" b="1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界面功能概览</a:t>
            </a:r>
            <a:endParaRPr kumimoji="1" lang="zh-CN" altLang="en-US" sz="1800" dirty="0"/>
          </a:p>
        </p:txBody>
      </p:sp>
      <p:sp>
        <p:nvSpPr>
          <p:cNvPr id="22" name="文本框 19">
            <a:extLst>
              <a:ext uri="{FF2B5EF4-FFF2-40B4-BE49-F238E27FC236}">
                <a16:creationId xmlns:a16="http://schemas.microsoft.com/office/drawing/2014/main" id="{35E3160E-BF01-8D71-79FD-639ED204DA28}"/>
              </a:ext>
            </a:extLst>
          </p:cNvPr>
          <p:cNvSpPr txBox="1"/>
          <p:nvPr/>
        </p:nvSpPr>
        <p:spPr>
          <a:xfrm>
            <a:off x="5588000" y="2538307"/>
            <a:ext cx="2032000" cy="890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左侧状态栏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参数设置栏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状态转化模式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文本框 18">
            <a:extLst>
              <a:ext uri="{FF2B5EF4-FFF2-40B4-BE49-F238E27FC236}">
                <a16:creationId xmlns:a16="http://schemas.microsoft.com/office/drawing/2014/main" id="{23379439-FD75-14D6-69BB-2E00FF5E8F18}"/>
              </a:ext>
            </a:extLst>
          </p:cNvPr>
          <p:cNvSpPr txBox="1"/>
          <p:nvPr/>
        </p:nvSpPr>
        <p:spPr>
          <a:xfrm>
            <a:off x="9271000" y="2039543"/>
            <a:ext cx="20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 sz="1800" b="1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核心操作模块</a:t>
            </a:r>
            <a:endParaRPr kumimoji="1" lang="zh-CN" altLang="en-US" sz="1800" dirty="0"/>
          </a:p>
        </p:txBody>
      </p:sp>
      <p:sp>
        <p:nvSpPr>
          <p:cNvPr id="24" name="文本框 19">
            <a:extLst>
              <a:ext uri="{FF2B5EF4-FFF2-40B4-BE49-F238E27FC236}">
                <a16:creationId xmlns:a16="http://schemas.microsoft.com/office/drawing/2014/main" id="{35E3160E-BF01-8D71-79FD-639ED204DA28}"/>
              </a:ext>
            </a:extLst>
          </p:cNvPr>
          <p:cNvSpPr txBox="1"/>
          <p:nvPr/>
        </p:nvSpPr>
        <p:spPr>
          <a:xfrm>
            <a:off x="9271000" y="2538307"/>
            <a:ext cx="2032000" cy="890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错误处理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实时数据显示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关节角度命令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文本框 18">
            <a:extLst>
              <a:ext uri="{FF2B5EF4-FFF2-40B4-BE49-F238E27FC236}">
                <a16:creationId xmlns:a16="http://schemas.microsoft.com/office/drawing/2014/main" id="{23379439-FD75-14D6-69BB-2E00FF5E8F18}"/>
              </a:ext>
            </a:extLst>
          </p:cNvPr>
          <p:cNvSpPr txBox="1"/>
          <p:nvPr/>
        </p:nvSpPr>
        <p:spPr>
          <a:xfrm>
            <a:off x="2286000" y="4701555"/>
            <a:ext cx="20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zh-CN" altLang="en-US" sz="1800" b="1" dirty="0">
                <a:solidFill>
                  <a:srgbClr val="343A40"/>
                </a:solidFill>
                <a:ea typeface="Noto Sans SC" panose="020B0200000000000000" charset="-122"/>
                <a:sym typeface="Noto Sans SC" panose="020B0200000000000000" charset="-122"/>
              </a:rPr>
              <a:t>工具操作区</a:t>
            </a:r>
            <a:endParaRPr kumimoji="1" lang="zh-CN" altLang="en-US" sz="1800" dirty="0"/>
          </a:p>
        </p:txBody>
      </p:sp>
      <p:sp>
        <p:nvSpPr>
          <p:cNvPr id="26" name="文本框 19">
            <a:extLst>
              <a:ext uri="{FF2B5EF4-FFF2-40B4-BE49-F238E27FC236}">
                <a16:creationId xmlns:a16="http://schemas.microsoft.com/office/drawing/2014/main" id="{35E3160E-BF01-8D71-79FD-639ED204DA28}"/>
              </a:ext>
            </a:extLst>
          </p:cNvPr>
          <p:cNvSpPr txBox="1"/>
          <p:nvPr/>
        </p:nvSpPr>
        <p:spPr>
          <a:xfrm>
            <a:off x="2286000" y="5200319"/>
            <a:ext cx="2032000" cy="890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数据显示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软急停操作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更多功能</a:t>
            </a:r>
          </a:p>
        </p:txBody>
      </p:sp>
      <p:sp>
        <p:nvSpPr>
          <p:cNvPr id="27" name="文本框 18">
            <a:extLst>
              <a:ext uri="{FF2B5EF4-FFF2-40B4-BE49-F238E27FC236}">
                <a16:creationId xmlns:a16="http://schemas.microsoft.com/office/drawing/2014/main" id="{23379439-FD75-14D6-69BB-2E00FF5E8F18}"/>
              </a:ext>
            </a:extLst>
          </p:cNvPr>
          <p:cNvSpPr txBox="1"/>
          <p:nvPr/>
        </p:nvSpPr>
        <p:spPr>
          <a:xfrm>
            <a:off x="7747000" y="4701555"/>
            <a:ext cx="20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zh-CN" altLang="en-US" sz="1800" b="1" dirty="0">
                <a:solidFill>
                  <a:srgbClr val="343A40"/>
                </a:solidFill>
                <a:ea typeface="Noto Sans SC" panose="020B0200000000000000" charset="-122"/>
                <a:sym typeface="Noto Sans SC" panose="020B0200000000000000" charset="-122"/>
              </a:rPr>
              <a:t>安全与支持</a:t>
            </a:r>
            <a:endParaRPr kumimoji="1" lang="zh-CN" altLang="en-US" sz="1800" dirty="0"/>
          </a:p>
        </p:txBody>
      </p:sp>
      <p:sp>
        <p:nvSpPr>
          <p:cNvPr id="28" name="文本框 19">
            <a:extLst>
              <a:ext uri="{FF2B5EF4-FFF2-40B4-BE49-F238E27FC236}">
                <a16:creationId xmlns:a16="http://schemas.microsoft.com/office/drawing/2014/main" id="{35E3160E-BF01-8D71-79FD-639ED204DA28}"/>
              </a:ext>
            </a:extLst>
          </p:cNvPr>
          <p:cNvSpPr txBox="1"/>
          <p:nvPr/>
        </p:nvSpPr>
        <p:spPr>
          <a:xfrm>
            <a:off x="7747000" y="5200319"/>
            <a:ext cx="2032000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安全操作注意事项</a:t>
            </a:r>
            <a:endParaRPr lang="en-US" altLang="zh-CN" sz="1200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技术支持信息指引</a:t>
            </a:r>
            <a:endParaRPr lang="en-US" altLang="zh-CN" sz="1200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7469842-877E-2497-60F9-BF1DC5CA9AD9}"/>
              </a:ext>
            </a:extLst>
          </p:cNvPr>
          <p:cNvGrpSpPr/>
          <p:nvPr/>
        </p:nvGrpSpPr>
        <p:grpSpPr>
          <a:xfrm>
            <a:off x="0" y="-1"/>
            <a:ext cx="12192000" cy="900113"/>
            <a:chOff x="0" y="-1"/>
            <a:chExt cx="12192000" cy="90011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53D0CC6-95F6-5F50-3DFB-5C9C6B43C8DB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" name="AutoShape 3"/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、调试准备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19723" y="1897744"/>
            <a:ext cx="10922000" cy="1806149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73723" y="2061489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defRPr/>
            </a:pPr>
            <a:r>
              <a:rPr lang="en-US" sz="1800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软件获取</a:t>
            </a:r>
            <a:endParaRPr lang="en-US" sz="18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6A20D6-A1D9-3AA7-98A5-38227C03E8E2}"/>
              </a:ext>
            </a:extLst>
          </p:cNvPr>
          <p:cNvSpPr txBox="1"/>
          <p:nvPr/>
        </p:nvSpPr>
        <p:spPr>
          <a:xfrm>
            <a:off x="508000" y="1232683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1.1</a:t>
            </a:r>
            <a:r>
              <a:rPr kumimoji="1" lang="zh-CN" altLang="en-US" sz="2400" b="1" dirty="0"/>
              <a:t> 软件获取与安装运行</a:t>
            </a: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41BBAA00-D14B-C893-CDC8-DAA266EAB74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73723" y="2442489"/>
            <a:ext cx="10163908" cy="12614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defRPr/>
            </a:pPr>
            <a:r>
              <a:rPr 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Platform</a:t>
            </a:r>
            <a:r>
              <a:rPr lang="zh-CN" alt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跟随</a:t>
            </a:r>
            <a:r>
              <a:rPr 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SDK</a:t>
            </a:r>
            <a:r>
              <a:rPr lang="zh-CN" alt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发布，此软件仅使用</a:t>
            </a:r>
            <a:r>
              <a:rPr lang="en-US" altLang="zh-CN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Gento</a:t>
            </a: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系列产品，且目前版本基于控制器主版本</a:t>
            </a:r>
            <a:r>
              <a:rPr lang="en-US" altLang="zh-CN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1004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CN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SDK</a:t>
            </a: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详情请访问：</a:t>
            </a:r>
            <a:r>
              <a:rPr lang="en" altLang="zh-CN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  <a:hlinkClick r:id="rId11"/>
              </a:rPr>
              <a:t>https://</a:t>
            </a:r>
            <a:r>
              <a:rPr lang="en" altLang="zh-CN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  <a:hlinkClick r:id="rId11"/>
              </a:rPr>
              <a:t>github.com</a:t>
            </a:r>
            <a:r>
              <a:rPr lang="en" altLang="zh-CN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  <a:hlinkClick r:id="rId11"/>
              </a:rPr>
              <a:t>/</a:t>
            </a:r>
            <a:r>
              <a:rPr lang="en" altLang="zh-CN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  <a:hlinkClick r:id="rId11"/>
              </a:rPr>
              <a:t>tianjizn</a:t>
            </a:r>
            <a:r>
              <a:rPr lang="en" altLang="zh-CN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  <a:hlinkClick r:id="rId11"/>
              </a:rPr>
              <a:t>/</a:t>
            </a:r>
            <a:r>
              <a:rPr lang="en" altLang="zh-CN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  <a:hlinkClick r:id="rId11"/>
              </a:rPr>
              <a:t>tianji</a:t>
            </a:r>
            <a:r>
              <a:rPr lang="en" altLang="zh-CN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  <a:hlinkClick r:id="rId11"/>
              </a:rPr>
              <a:t>-robot-SDK/tree/Gento_Skye%2BLuna</a:t>
            </a:r>
            <a:endParaRPr lang="zh-CN" altLang="en-US" i="0" u="none" strike="noStrik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5239A191-4A5A-C628-D333-12B75A27737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19723" y="3907289"/>
            <a:ext cx="10922000" cy="2786406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BF838ED2-6257-82C5-B12C-A8878027256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73723" y="4071034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defRPr/>
            </a:pPr>
            <a:r>
              <a:rPr lang="en-US" sz="1800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安装运行</a:t>
            </a:r>
            <a:endParaRPr lang="en-US" sz="1800" dirty="0"/>
          </a:p>
        </p:txBody>
      </p:sp>
      <p:sp>
        <p:nvSpPr>
          <p:cNvPr id="20" name="AutoShape 7">
            <a:extLst>
              <a:ext uri="{FF2B5EF4-FFF2-40B4-BE49-F238E27FC236}">
                <a16:creationId xmlns:a16="http://schemas.microsoft.com/office/drawing/2014/main" id="{14C03BDF-DF2B-1DE4-804C-E095E61A3A5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73723" y="4452033"/>
            <a:ext cx="10163908" cy="22416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我们测试并提供在</a:t>
            </a:r>
            <a:r>
              <a:rPr lang="en" altLang="zh-CN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WINDOWS </a:t>
            </a:r>
            <a:r>
              <a:rPr lang="zh-CN" alt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" altLang="zh-CN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UBUNTU20.04_X86</a:t>
            </a:r>
            <a:r>
              <a:rPr lang="zh-CN" alt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下可执行的软件</a:t>
            </a:r>
            <a:r>
              <a:rPr lang="en-US" altLang="zh-CN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</a:t>
            </a:r>
            <a:r>
              <a:rPr lang="zh-CN" alt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如果与您的环境不一致，请下载源码后编译库，直接运行或者生成可执行</a:t>
            </a:r>
            <a:r>
              <a:rPr lang="en" altLang="zh-CN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</a:t>
            </a: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r>
              <a:rPr lang="zh-CN" altLang="zh-CN" dirty="0"/>
              <a:t>运行前请确认：</a:t>
            </a:r>
          </a:p>
          <a:p>
            <a:pPr lvl="0"/>
            <a:r>
              <a:rPr lang="en-US" altLang="zh-CN" dirty="0"/>
              <a:t>Platform</a:t>
            </a:r>
            <a:r>
              <a:rPr lang="zh-CN" altLang="zh-CN" dirty="0"/>
              <a:t>基础环境：</a:t>
            </a:r>
            <a:r>
              <a:rPr lang="en-US" altLang="zh-CN" dirty="0"/>
              <a:t>python3.10</a:t>
            </a:r>
            <a:r>
              <a:rPr lang="zh-CN" altLang="zh-CN" dirty="0"/>
              <a:t>及以上</a:t>
            </a:r>
            <a:r>
              <a:rPr lang="en-US" altLang="zh-CN" dirty="0"/>
              <a:t>, </a:t>
            </a:r>
            <a:r>
              <a:rPr lang="en-US" altLang="zh-CN" dirty="0" err="1"/>
              <a:t>pyinstaller,pillow</a:t>
            </a:r>
            <a:endParaRPr lang="zh-CN" altLang="zh-CN" dirty="0"/>
          </a:p>
          <a:p>
            <a:pPr lvl="0"/>
            <a:r>
              <a:rPr lang="zh-CN" altLang="zh-CN" dirty="0"/>
              <a:t>确保</a:t>
            </a:r>
            <a:r>
              <a:rPr lang="en-US" altLang="zh-CN" dirty="0"/>
              <a:t> SDK_PYTHON</a:t>
            </a:r>
            <a:r>
              <a:rPr lang="zh-CN" altLang="zh-CN" dirty="0"/>
              <a:t>文件夹下为</a:t>
            </a:r>
            <a:r>
              <a:rPr lang="en-US" altLang="zh-CN" dirty="0"/>
              <a:t>./</a:t>
            </a:r>
            <a:r>
              <a:rPr lang="en-US" altLang="zh-CN" dirty="0" err="1"/>
              <a:t>contrlSDK</a:t>
            </a:r>
            <a:r>
              <a:rPr lang="zh-CN" altLang="zh-CN" dirty="0"/>
              <a:t>和</a:t>
            </a:r>
            <a:r>
              <a:rPr lang="en-US" altLang="zh-CN" dirty="0"/>
              <a:t> ./</a:t>
            </a:r>
            <a:r>
              <a:rPr lang="en-US" altLang="zh-CN" dirty="0" err="1"/>
              <a:t>kinematicsSDK</a:t>
            </a:r>
            <a:r>
              <a:rPr lang="zh-CN" altLang="zh-CN" dirty="0"/>
              <a:t>下编译的最新的动态库</a:t>
            </a:r>
            <a:r>
              <a:rPr lang="en-US" altLang="zh-CN" dirty="0"/>
              <a:t>SO</a:t>
            </a:r>
            <a:r>
              <a:rPr lang="zh-CN" altLang="zh-CN" dirty="0"/>
              <a:t>：</a:t>
            </a:r>
            <a:r>
              <a:rPr lang="en-US" altLang="zh-CN" dirty="0" err="1"/>
              <a:t>libMarvinSDK.so</a:t>
            </a:r>
            <a:r>
              <a:rPr lang="en-US" altLang="zh-CN" dirty="0"/>
              <a:t> </a:t>
            </a:r>
            <a:r>
              <a:rPr lang="zh-CN" altLang="zh-CN" dirty="0"/>
              <a:t>和</a:t>
            </a:r>
            <a:r>
              <a:rPr lang="en-US" altLang="zh-CN" dirty="0"/>
              <a:t> </a:t>
            </a:r>
            <a:r>
              <a:rPr lang="en-US" altLang="zh-CN" dirty="0" err="1"/>
              <a:t>libKine.so</a:t>
            </a:r>
            <a:endParaRPr lang="en-US" altLang="zh-CN" dirty="0"/>
          </a:p>
          <a:p>
            <a:r>
              <a:rPr lang="zh-CN" altLang="zh-CN" dirty="0"/>
              <a:t>运行</a:t>
            </a:r>
            <a:r>
              <a:rPr lang="en-US" altLang="zh-CN" dirty="0"/>
              <a:t>APP</a:t>
            </a:r>
            <a:r>
              <a:rPr lang="zh-CN" altLang="zh-CN" dirty="0"/>
              <a:t>：</a:t>
            </a:r>
          </a:p>
          <a:p>
            <a:pPr lvl="0"/>
            <a:r>
              <a:rPr lang="zh-CN" altLang="zh-CN" dirty="0"/>
              <a:t>源码运行</a:t>
            </a:r>
            <a:r>
              <a:rPr lang="en-US" altLang="zh-CN" dirty="0"/>
              <a:t> </a:t>
            </a:r>
            <a:r>
              <a:rPr lang="en-US" altLang="zh-CN" dirty="0" err="1"/>
              <a:t>ui.py</a:t>
            </a:r>
            <a:endParaRPr lang="zh-CN" altLang="zh-CN" dirty="0"/>
          </a:p>
          <a:p>
            <a:pPr lvl="0"/>
            <a:r>
              <a:rPr lang="zh-CN" altLang="zh-CN" dirty="0"/>
              <a:t>生成可执行文件后运行，以便于分发到其他无</a:t>
            </a:r>
            <a:r>
              <a:rPr lang="en-US" altLang="zh-CN" dirty="0"/>
              <a:t>PY</a:t>
            </a:r>
            <a:r>
              <a:rPr lang="zh-CN" altLang="zh-CN" dirty="0"/>
              <a:t>环境的电脑上：</a:t>
            </a:r>
            <a:r>
              <a:rPr lang="en-US" altLang="zh-CN" dirty="0"/>
              <a:t>python  </a:t>
            </a:r>
            <a:r>
              <a:rPr lang="en-US" altLang="zh-CN" dirty="0" err="1"/>
              <a:t>setup.py</a:t>
            </a:r>
            <a:endParaRPr lang="zh-CN" altLang="zh-CN" dirty="0"/>
          </a:p>
          <a:p>
            <a:pPr indent="0" algn="l">
              <a:defRPr/>
            </a:pPr>
            <a:endParaRPr lang="en-US" altLang="zh-CN" i="0" u="none" strike="noStrik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7">
            <a:extLst>
              <a:ext uri="{FF2B5EF4-FFF2-40B4-BE49-F238E27FC236}">
                <a16:creationId xmlns:a16="http://schemas.microsoft.com/office/drawing/2014/main" id="{8A948BAE-2DC1-1E82-9761-79A03FD4116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73723" y="5559865"/>
            <a:ext cx="10163908" cy="805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50000"/>
              </a:lnSpc>
              <a:defRPr/>
            </a:pPr>
            <a:endParaRPr lang="zh-CN" altLang="en-US" i="0" u="none" strike="noStrik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1315B-EAE9-E903-FB65-FC0EA46B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DC50698-5D28-1D16-0023-59AEC3704B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87EEBC-EFB8-CAAD-5A2E-5BC347EB50D2}"/>
              </a:ext>
            </a:extLst>
          </p:cNvPr>
          <p:cNvGrpSpPr/>
          <p:nvPr/>
        </p:nvGrpSpPr>
        <p:grpSpPr>
          <a:xfrm>
            <a:off x="0" y="-1"/>
            <a:ext cx="12192000" cy="900113"/>
            <a:chOff x="0" y="-1"/>
            <a:chExt cx="12192000" cy="90011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3A2AB57-7A3F-0C8C-A8DF-99EBDC0D7C54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C8BE2D24-3B9A-3696-EE4F-E4B31F42F36D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、调试准备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49B439E-B34C-CA22-CB9E-BB682F6FF442}"/>
              </a:ext>
            </a:extLst>
          </p:cNvPr>
          <p:cNvGrpSpPr/>
          <p:nvPr/>
        </p:nvGrpSpPr>
        <p:grpSpPr>
          <a:xfrm>
            <a:off x="6778625" y="1733559"/>
            <a:ext cx="5080000" cy="2413000"/>
            <a:chOff x="6778625" y="1803409"/>
            <a:chExt cx="5080000" cy="2413000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BFB99F02-047A-CDEA-7DB7-A4E76B8B672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778625" y="1803409"/>
              <a:ext cx="5080000" cy="2413000"/>
            </a:xfrm>
            <a:prstGeom prst="roundRect">
              <a:avLst>
                <a:gd name="adj" fmla="val 6315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9ECEF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8883BAD-9E01-B947-1B34-71903BD8BD9C}"/>
                </a:ext>
              </a:extLst>
            </p:cNvPr>
            <p:cNvGrpSpPr/>
            <p:nvPr/>
          </p:nvGrpSpPr>
          <p:grpSpPr>
            <a:xfrm>
              <a:off x="7032625" y="1955809"/>
              <a:ext cx="4572000" cy="381000"/>
              <a:chOff x="7032625" y="1955809"/>
              <a:chExt cx="4572000" cy="381000"/>
            </a:xfrm>
          </p:grpSpPr>
          <p:pic>
            <p:nvPicPr>
              <p:cNvPr id="6" name="Picture 6">
                <a:extLst>
                  <a:ext uri="{FF2B5EF4-FFF2-40B4-BE49-F238E27FC236}">
                    <a16:creationId xmlns:a16="http://schemas.microsoft.com/office/drawing/2014/main" id="{9E541DD0-5FFF-B618-A99C-CA302913CA1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7032625" y="2006609"/>
                <a:ext cx="279400" cy="279400"/>
              </a:xfrm>
              <a:prstGeom prst="rect">
                <a:avLst/>
              </a:prstGeom>
            </p:spPr>
          </p:pic>
          <p:sp>
            <p:nvSpPr>
              <p:cNvPr id="7" name="AutoShape 7">
                <a:extLst>
                  <a:ext uri="{FF2B5EF4-FFF2-40B4-BE49-F238E27FC236}">
                    <a16:creationId xmlns:a16="http://schemas.microsoft.com/office/drawing/2014/main" id="{3957B8A8-0E8C-783E-801F-0AD7A40D5838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7413625" y="1955809"/>
                <a:ext cx="4191000" cy="381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defRPr/>
                </a:pPr>
                <a:r>
                  <a:rPr lang="en-US" sz="1900" b="1" i="0" u="none" strike="noStrike" dirty="0" err="1">
                    <a:solidFill>
                      <a:srgbClr val="28A745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操作步骤</a:t>
                </a:r>
                <a:endParaRPr lang="en-US" sz="1100" dirty="0"/>
              </a:p>
            </p:txBody>
          </p:sp>
        </p:grp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88AFDEE0-7714-DEF1-F911-216F542CFA4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032625" y="2565409"/>
              <a:ext cx="4572000" cy="1397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  <a:defRPr/>
              </a:pPr>
              <a:r>
                <a:rPr lang="en-US" sz="1200" b="0" i="0" u="none" strike="noStrike" dirty="0" err="1">
                  <a:solidFill>
                    <a:srgbClr val="49505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在界面左上角找到</a:t>
              </a:r>
              <a:r>
                <a:rPr lang="en-US" sz="1200" b="1" i="0" u="none" strike="noStrike" dirty="0" err="1">
                  <a:solidFill>
                    <a:srgbClr val="28A74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连接设置区域</a:t>
              </a:r>
              <a:endParaRPr lang="en-US" sz="1200" dirty="0"/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200" b="0" i="0" u="none" strike="noStrike" dirty="0" err="1">
                  <a:solidFill>
                    <a:srgbClr val="49505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在IP地址输入框中，准确输入机器人控制器的IP地址</a:t>
              </a:r>
              <a:endParaRPr lang="en-US" sz="12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200" b="0" i="0" u="none" strike="noStrike" dirty="0" err="1">
                  <a:solidFill>
                    <a:srgbClr val="49505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点击“连接机器人”按钮，发起连接请求</a:t>
              </a:r>
              <a:endParaRPr lang="en-US" sz="12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200" b="0" i="0" u="none" strike="noStrike" dirty="0">
                  <a:solidFill>
                    <a:srgbClr val="49505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成功后，按钮状态会自动更新为绿色的“</a:t>
              </a:r>
              <a:r>
                <a:rPr lang="en-US" sz="1200" b="1" i="0" u="none" strike="noStrike" dirty="0">
                  <a:solidFill>
                    <a:srgbClr val="28A74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已连接</a:t>
              </a:r>
              <a:r>
                <a:rPr lang="en-US" sz="1200" b="0" i="0" u="none" strike="noStrike" dirty="0">
                  <a:solidFill>
                    <a:srgbClr val="49505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”</a:t>
              </a:r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6AE3041C-94BA-C3BA-D0EF-47244CD4229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78625" y="4406909"/>
            <a:ext cx="5080000" cy="2286786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048CACB-49DF-1B20-294F-F0B0253FC130}"/>
              </a:ext>
            </a:extLst>
          </p:cNvPr>
          <p:cNvGrpSpPr/>
          <p:nvPr/>
        </p:nvGrpSpPr>
        <p:grpSpPr>
          <a:xfrm>
            <a:off x="7032625" y="4559309"/>
            <a:ext cx="4572000" cy="381000"/>
            <a:chOff x="7032625" y="4559309"/>
            <a:chExt cx="4572000" cy="381000"/>
          </a:xfrm>
        </p:grpSpPr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403D6075-2D9D-4893-9947-C808D34E5CA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32625" y="4610109"/>
              <a:ext cx="279400" cy="279400"/>
            </a:xfrm>
            <a:prstGeom prst="rect">
              <a:avLst/>
            </a:prstGeom>
          </p:spPr>
        </p:pic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1BA08B48-6C70-41FA-F4D7-83B2DD57384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413625" y="4559309"/>
              <a:ext cx="4191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defRPr/>
              </a:pPr>
              <a:r>
                <a:rPr lang="en-US" sz="1900" b="1" i="0" u="none" strike="noStrike" dirty="0" err="1">
                  <a:solidFill>
                    <a:srgbClr val="FFC20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排查</a:t>
              </a:r>
              <a:endParaRPr lang="en-US" sz="1100" dirty="0">
                <a:solidFill>
                  <a:srgbClr val="FFC207"/>
                </a:solidFill>
              </a:endParaRPr>
            </a:p>
          </p:txBody>
        </p:sp>
      </p:grpSp>
      <p:sp>
        <p:nvSpPr>
          <p:cNvPr id="12" name="AutoShape 12">
            <a:extLst>
              <a:ext uri="{FF2B5EF4-FFF2-40B4-BE49-F238E27FC236}">
                <a16:creationId xmlns:a16="http://schemas.microsoft.com/office/drawing/2014/main" id="{5D409399-796A-5B53-0428-BD7EE5058A4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032625" y="4978409"/>
            <a:ext cx="4572000" cy="17152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120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网络连接：请确保电脑与机器人控制器处于同一个局域网内</a:t>
            </a:r>
            <a:r>
              <a:rPr lang="en-US" sz="120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dirty="0"/>
          </a:p>
          <a:p>
            <a:pPr marL="228600" indent="-228600" algn="l">
              <a:lnSpc>
                <a:spcPct val="150000"/>
              </a:lnSpc>
              <a:buFont typeface="+mj-lt"/>
              <a:buAutoNum type="arabicPeriod"/>
            </a:pPr>
            <a:r>
              <a:rPr lang="en-US" sz="120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IP校验：输入前请再次核对IP地址，避免因地址错误导致连接失败</a:t>
            </a:r>
            <a:endParaRPr lang="en-US" sz="120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50000"/>
              </a:lnSpc>
              <a:buFont typeface="+mj-lt"/>
              <a:buAutoNum type="arabicPeriod"/>
            </a:pPr>
            <a:r>
              <a:rPr lang="en-US" sz="120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故障排查：若失败，请优先检查机器人电源状态及网络配置是否正确</a:t>
            </a:r>
            <a:endParaRPr lang="en-US" sz="120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1BE0755-8E74-9221-47C3-2853C31C67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7999" y="3188455"/>
            <a:ext cx="6090920" cy="349969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E1773E8-5757-D596-9B29-352F1D359235}"/>
              </a:ext>
            </a:extLst>
          </p:cNvPr>
          <p:cNvSpPr txBox="1"/>
          <p:nvPr/>
        </p:nvSpPr>
        <p:spPr>
          <a:xfrm>
            <a:off x="508000" y="1119494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1.2</a:t>
            </a:r>
            <a:r>
              <a:rPr kumimoji="1" lang="zh-CN" altLang="en-US" sz="2400" b="1" dirty="0"/>
              <a:t> 连接机器人与排查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ED281A5-822E-42D4-9F45-A61A5AA7C87A}"/>
              </a:ext>
            </a:extLst>
          </p:cNvPr>
          <p:cNvSpPr txBox="1"/>
          <p:nvPr/>
        </p:nvSpPr>
        <p:spPr>
          <a:xfrm>
            <a:off x="507999" y="1744086"/>
            <a:ext cx="6090919" cy="144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200" dirty="0"/>
              <a:t>在进行软件连接前，请确认以下物理连接已正确建立：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dirty="0"/>
              <a:t>控制器电源已接通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dirty="0"/>
              <a:t>以太网线缆连接牢固：一端插入控制器网口（标注为</a:t>
            </a:r>
            <a:r>
              <a:rPr lang="en-US" altLang="zh-CN" sz="1200" dirty="0"/>
              <a:t>CAT.6</a:t>
            </a:r>
            <a:r>
              <a:rPr lang="zh-CN" altLang="zh-CN" sz="1200" dirty="0"/>
              <a:t>），另一端插入电脑网口或交换机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dirty="0"/>
              <a:t>机器人本体急停按钮处于释放状态</a:t>
            </a:r>
          </a:p>
        </p:txBody>
      </p:sp>
    </p:spTree>
    <p:extLst>
      <p:ext uri="{BB962C8B-B14F-4D97-AF65-F5344CB8AC3E}">
        <p14:creationId xmlns:p14="http://schemas.microsoft.com/office/powerpoint/2010/main" val="191309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756400" y="1778000"/>
            <a:ext cx="5080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400" y="1981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442200" y="19431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defRPr/>
            </a:pPr>
            <a:r>
              <a:rPr lang="en-US" sz="18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核心功能区域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010400" y="2540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状态显示：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实时反馈机器人运行状态（如空闲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位置模式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）。</a:t>
            </a:r>
            <a:endParaRPr lang="en-US" sz="1100" dirty="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拖动按钮状态：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清晰指示拖动示教功能的启用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禁用状态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9423400" y="2540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zh-CN" alt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</a:t>
            </a:r>
            <a:r>
              <a:rPr lang="en-US" sz="13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直观展示机器人当前是否处于完全静止状态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错误码显示：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实时提示系统当前错误代码，便于快速排查问题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756400" y="4191000"/>
            <a:ext cx="5080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010400" y="43561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defRPr/>
            </a:pPr>
            <a:r>
              <a:rPr lang="en-US" sz="1800" b="1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操作与状态解读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010400" y="49530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状态指示灯颜色</a:t>
            </a:r>
            <a:r>
              <a:rPr 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IDLE：</a:t>
            </a:r>
            <a:r>
              <a:rPr lang="zh-CN" altLang="en-US" sz="1200" b="0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空闲状态</a:t>
            </a:r>
            <a:r>
              <a:rPr lang="en-US" sz="1200" b="0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FD7E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Position</a:t>
            </a:r>
            <a:r>
              <a:rPr lang="zh-CN" altLang="en-US" sz="1200" b="0" i="0" u="none" strike="noStrike" dirty="0">
                <a:solidFill>
                  <a:srgbClr val="FD7E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：位置模式</a:t>
            </a:r>
            <a:endParaRPr lang="en-US" sz="1200" b="0" i="0" u="none" strike="noStrike" dirty="0">
              <a:solidFill>
                <a:srgbClr val="FD7E1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DC35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Impedance：</a:t>
            </a:r>
            <a:r>
              <a:rPr lang="zh-CN" altLang="en-US" sz="1200" b="0" i="0" u="none" strike="noStrike" dirty="0">
                <a:solidFill>
                  <a:srgbClr val="DC35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阻抗模式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423400" y="4953000"/>
            <a:ext cx="215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拖动示教操作</a:t>
            </a:r>
            <a:r>
              <a:rPr 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按下“拖动按钮”后，机器人即进入拖动模式</a:t>
            </a:r>
            <a:endParaRPr lang="en-US" sz="12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1943100"/>
            <a:ext cx="6076323" cy="4329229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087BC705-FBBB-04B0-8BE0-67817F5B8F31}"/>
              </a:ext>
            </a:extLst>
          </p:cNvPr>
          <p:cNvGrpSpPr/>
          <p:nvPr/>
        </p:nvGrpSpPr>
        <p:grpSpPr>
          <a:xfrm>
            <a:off x="0" y="-1"/>
            <a:ext cx="12192000" cy="900113"/>
            <a:chOff x="0" y="-1"/>
            <a:chExt cx="12192000" cy="90011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1E7CA40-6E99-CED8-5851-12B2F21FE20C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AutoShape 3">
              <a:extLst>
                <a:ext uri="{FF2B5EF4-FFF2-40B4-BE49-F238E27FC236}">
                  <a16:creationId xmlns:a16="http://schemas.microsoft.com/office/drawing/2014/main" id="{DFE0088F-7605-852F-296A-8DB0A6A98079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、界面功能概览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8C4A6FB3-6EBF-D8C4-6FD7-E84FC0B99F0E}"/>
              </a:ext>
            </a:extLst>
          </p:cNvPr>
          <p:cNvSpPr txBox="1"/>
          <p:nvPr/>
        </p:nvSpPr>
        <p:spPr>
          <a:xfrm>
            <a:off x="508000" y="1119494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2.1</a:t>
            </a:r>
            <a:r>
              <a:rPr kumimoji="1" lang="zh-CN" altLang="en-US" sz="2400" b="1" dirty="0"/>
              <a:t> 左侧状态栏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2057399"/>
            <a:ext cx="50800" cy="3943351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25500" y="1838328"/>
            <a:ext cx="4572000" cy="428933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速度与加速度设置</a:t>
            </a:r>
            <a:endParaRPr lang="en-US" sz="1100" dirty="0"/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速度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(%)：</a:t>
            </a:r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输入框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可在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0% 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100% 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的范围内精确调节</a:t>
            </a:r>
            <a:endParaRPr 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加速度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(%)：</a:t>
            </a:r>
          </a:p>
          <a:p>
            <a:pPr indent="0" algn="l">
              <a:lnSpc>
                <a:spcPct val="150000"/>
              </a:lnSpc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配合速度进行联动设置，同样支持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0-100% 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的自由调节</a:t>
            </a:r>
            <a:endParaRPr 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endParaRPr 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1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</a:t>
            </a:r>
            <a:r>
              <a:rPr lang="en-US" sz="1200" b="0" i="1" u="none" strike="noStrike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建议设置：初次使用或测试阶段，推荐将速度和加速度值设定在</a:t>
            </a:r>
            <a:r>
              <a:rPr lang="en-US" sz="1200" b="0" i="1" u="none" strike="noStrike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200" i="1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5%</a:t>
            </a:r>
            <a:r>
              <a:rPr lang="en-US" sz="1200" b="0" i="1" u="none" strike="noStrike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en-US" altLang="zh-CN" sz="1200" b="0" i="1" u="none" strike="noStrike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en-US" sz="1200" b="0" i="1" u="none" strike="noStrike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0% </a:t>
            </a:r>
            <a:r>
              <a:rPr lang="en-US" sz="1200" b="0" i="1" u="none" strike="noStrike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的较低区间，确保操作安全</a:t>
            </a:r>
            <a:endParaRPr lang="en-US" sz="1200" b="0" i="1" u="none" strike="noStrike" dirty="0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737" y="1647829"/>
            <a:ext cx="6105525" cy="474599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A608E2CB-17C3-53A2-B8A5-82A6DF051E5C}"/>
              </a:ext>
            </a:extLst>
          </p:cNvPr>
          <p:cNvGrpSpPr/>
          <p:nvPr/>
        </p:nvGrpSpPr>
        <p:grpSpPr>
          <a:xfrm>
            <a:off x="0" y="-1"/>
            <a:ext cx="12192000" cy="900113"/>
            <a:chOff x="0" y="-1"/>
            <a:chExt cx="12192000" cy="900113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285E910-9EF9-7D97-45C0-328C30099E46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FF60D46E-45A1-0B88-ABCA-0AED7ED0BED8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、界面功能概览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B7319187-3B57-FE1F-004D-027344093506}"/>
              </a:ext>
            </a:extLst>
          </p:cNvPr>
          <p:cNvSpPr txBox="1"/>
          <p:nvPr/>
        </p:nvSpPr>
        <p:spPr>
          <a:xfrm>
            <a:off x="508000" y="1119494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2.2</a:t>
            </a:r>
            <a:r>
              <a:rPr kumimoji="1" lang="zh-CN" altLang="en-US" sz="2400" b="1" dirty="0"/>
              <a:t> 参数设置栏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6CF25-973E-B1EF-EC96-F5015B91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70AD5A9-790F-69B0-EA13-BDCC490435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4197DAF-D7CD-8475-C609-627C20F0E718}"/>
              </a:ext>
            </a:extLst>
          </p:cNvPr>
          <p:cNvSpPr/>
          <p:nvPr/>
        </p:nvSpPr>
        <p:spPr>
          <a:xfrm>
            <a:off x="508000" y="1838329"/>
            <a:ext cx="45719" cy="455549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8CE41E39-EDEA-B1D6-CB78-808BD76967E2}"/>
              </a:ext>
            </a:extLst>
          </p:cNvPr>
          <p:cNvSpPr/>
          <p:nvPr/>
        </p:nvSpPr>
        <p:spPr>
          <a:xfrm>
            <a:off x="825500" y="1838329"/>
            <a:ext cx="3499075" cy="444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阻抗参数设置</a:t>
            </a:r>
            <a:endParaRPr lang="en-US" sz="1100" dirty="0"/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刚度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阻尼</a:t>
            </a: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系数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分别控制机器人的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</a:t>
            </a: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</a:t>
            </a: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r>
              <a:rPr lang="en-US" sz="13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动态响应特性，实现对机械臂行为的精细微调</a:t>
            </a:r>
            <a:endParaRPr lang="en-US" sz="13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300" b="1" dirty="0">
                <a:solidFill>
                  <a:srgbClr val="495057"/>
                </a:solidFill>
                <a:ea typeface="Noto Sans SC" panose="020B0200000000000000" charset="-122"/>
              </a:rPr>
              <a:t>力 </a:t>
            </a:r>
            <a:r>
              <a:rPr lang="en-US" altLang="zh-CN" sz="1300" b="1" dirty="0">
                <a:solidFill>
                  <a:srgbClr val="495057"/>
                </a:solidFill>
                <a:ea typeface="Noto Sans SC" panose="020B0200000000000000" charset="-122"/>
              </a:rPr>
              <a:t>/ </a:t>
            </a:r>
            <a:r>
              <a:rPr lang="zh-CN" altLang="en-US" sz="1300" b="1" dirty="0">
                <a:solidFill>
                  <a:srgbClr val="495057"/>
                </a:solidFill>
                <a:ea typeface="Noto Sans SC" panose="020B0200000000000000" charset="-122"/>
              </a:rPr>
              <a:t>力矩设置值及最大检测距离</a:t>
            </a:r>
            <a:r>
              <a:rPr lang="en-US" altLang="zh-CN" sz="1300" b="1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</a:t>
            </a:r>
            <a:r>
              <a:rPr lang="en-US" sz="13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yz方向</a:t>
            </a:r>
            <a:r>
              <a:rPr lang="zh-CN" altLang="en-US" sz="13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-50</a:t>
            </a:r>
            <a:r>
              <a:rPr lang="zh-CN" altLang="en-US" sz="13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～</a:t>
            </a:r>
            <a:r>
              <a:rPr lang="en-US" altLang="zh-CN" sz="13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</a:t>
            </a:r>
            <a:r>
              <a:rPr lang="zh-CN" altLang="en-US" sz="13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的力，检测距离</a:t>
            </a:r>
            <a:endParaRPr lang="en-US" altLang="zh-CN" sz="13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xyz方向</a:t>
            </a: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，扭矩，检查角度</a:t>
            </a:r>
            <a:endParaRPr lang="en-US" sz="13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典型应用场景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sz="12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适用于精密零件装配、曲面力控打磨等，需要机械臂与环境保持柔性接触与互动的专业作业场景</a:t>
            </a:r>
            <a:endParaRPr lang="en-US" sz="12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816D311-5E87-C44F-7B5D-554210D0D3C1}"/>
              </a:ext>
            </a:extLst>
          </p:cNvPr>
          <p:cNvGrpSpPr/>
          <p:nvPr/>
        </p:nvGrpSpPr>
        <p:grpSpPr>
          <a:xfrm>
            <a:off x="0" y="-1"/>
            <a:ext cx="12192000" cy="900113"/>
            <a:chOff x="0" y="-1"/>
            <a:chExt cx="12192000" cy="900113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88C0DA0-5106-4338-A846-1ED82167D9E4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7B6D0F8C-492D-8AB5-2E8F-7ABFF180F485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、界面功能概览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484800E-FA9C-6A32-F5B1-52AFE0F8C6B6}"/>
              </a:ext>
            </a:extLst>
          </p:cNvPr>
          <p:cNvSpPr txBox="1"/>
          <p:nvPr/>
        </p:nvSpPr>
        <p:spPr>
          <a:xfrm>
            <a:off x="508000" y="1119494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2.2</a:t>
            </a:r>
            <a:r>
              <a:rPr kumimoji="1" lang="zh-CN" altLang="en-US" sz="2400" b="1" dirty="0"/>
              <a:t> 参数设置栏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664BDB0B-37CC-E2F9-6AF4-5FA25D894D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08" t="17586" r="5073" b="19900"/>
          <a:stretch>
            <a:fillRect/>
          </a:stretch>
        </p:blipFill>
        <p:spPr>
          <a:xfrm>
            <a:off x="4508648" y="2094352"/>
            <a:ext cx="7175352" cy="364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90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346200" y="1143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479060" y="1778000"/>
            <a:ext cx="5334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6479060" y="1778000"/>
            <a:ext cx="101600" cy="12700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34660" y="2032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7495060" y="1930400"/>
            <a:ext cx="4064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空闲状态</a:t>
            </a:r>
            <a:r>
              <a:rPr lang="en-US" sz="18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(IDLE)</a:t>
            </a:r>
            <a:endParaRPr lang="en-US" sz="1100" dirty="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下使能状态，不响应运动指令。此状态下主要用于初始化配置、参数修改或模式切换</a:t>
            </a:r>
            <a:endParaRPr lang="en-US" sz="13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479060" y="3302000"/>
            <a:ext cx="5334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6479060" y="3302000"/>
            <a:ext cx="101600" cy="12700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34660" y="3556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7495060" y="3454400"/>
            <a:ext cx="4064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位置模式</a:t>
            </a:r>
            <a:r>
              <a:rPr lang="en-US" sz="18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(Position)</a:t>
            </a:r>
            <a:endParaRPr lang="en-US" sz="1100" dirty="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标准的位置控制模式。机器人精确接收并执行绝对或相对位置指令，适用于路径固定的常规作业</a:t>
            </a:r>
            <a:endParaRPr lang="en-US" sz="13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479060" y="4826000"/>
            <a:ext cx="5334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6479060" y="4826000"/>
            <a:ext cx="101600" cy="12700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34660" y="5080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7495060" y="4978400"/>
            <a:ext cx="4064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关节阻抗模式</a:t>
            </a:r>
            <a:r>
              <a:rPr lang="en-US" sz="18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(Joint Impedance)</a:t>
            </a:r>
            <a:endParaRPr lang="en-US" sz="1100" dirty="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在关节空间实现阻抗控制，提供良好的关节柔顺性。非常适合需要人机物理协作、力控打磨或柔性装配的场景</a:t>
            </a:r>
            <a:endParaRPr lang="en-US" sz="13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1165" y="1930400"/>
            <a:ext cx="5876925" cy="3916045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D816D311-5E87-C44F-7B5D-554210D0D3C1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88C0DA0-5106-4338-A846-1ED82167D9E4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20" name="AutoShape 3">
              <a:extLst>
                <a:ext uri="{FF2B5EF4-FFF2-40B4-BE49-F238E27FC236}">
                  <a16:creationId xmlns:a16="http://schemas.microsoft.com/office/drawing/2014/main" id="{7B6D0F8C-492D-8AB5-2E8F-7ABFF180F485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、界面功能概览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3">
            <a:extLst>
              <a:ext uri="{FF2B5EF4-FFF2-40B4-BE49-F238E27FC236}">
                <a16:creationId xmlns:a16="http://schemas.microsoft.com/office/drawing/2014/main" id="{4484800E-FA9C-6A32-F5B1-52AFE0F8C6B6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2.3</a:t>
            </a:r>
            <a:r>
              <a:rPr kumimoji="1" lang="zh-CN" altLang="en-US" sz="2400" b="1" dirty="0"/>
              <a:t> 状态转换模式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453080" y="1725142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7080" y="2042642"/>
            <a:ext cx="711200" cy="7112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723080" y="1915642"/>
            <a:ext cx="368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</a:t>
            </a:r>
            <a:r>
              <a:rPr lang="en-US" sz="19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笛卡尔阻抗模式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在机器人末端笛卡尔空间进行阻抗控制，保持末端姿态的柔顺性，适用于需要恒定接触力的任务（如去毛刺、曲面贴合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453080" y="3439642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7080" y="3757142"/>
            <a:ext cx="711200" cy="7112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723080" y="3630142"/>
            <a:ext cx="368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/ </a:t>
            </a:r>
            <a:r>
              <a:rPr lang="en-US" sz="19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力控模式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直接对机器人进行高精度的力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力矩闭环控制，专为精密打磨、抛光、装配等需要精确控制输出力的场景设计</a:t>
            </a:r>
            <a:endParaRPr 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53080" y="5154142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7080" y="5433542"/>
            <a:ext cx="711200" cy="7112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723080" y="5344642"/>
            <a:ext cx="368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/ </a:t>
            </a:r>
            <a:r>
              <a:rPr lang="en-US" sz="19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拖动示教模式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支持用户手动牵引机器人进行拖动示教</a:t>
            </a:r>
            <a:endParaRPr 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571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▲ </a:t>
            </a: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状态模式切换面板示意</a:t>
            </a:r>
            <a:endParaRPr lang="en-US" sz="11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91212" y="1845955"/>
            <a:ext cx="5997575" cy="389255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B4302743-CD6B-F2DD-1BB7-BAE53DD4729E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4E905D9-0766-AA7D-2170-C236B90FEF4B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7" name="AutoShape 3">
              <a:extLst>
                <a:ext uri="{FF2B5EF4-FFF2-40B4-BE49-F238E27FC236}">
                  <a16:creationId xmlns:a16="http://schemas.microsoft.com/office/drawing/2014/main" id="{8A26EC1B-D12A-1282-149C-609E4BEC58ED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、界面功能概览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3">
            <a:extLst>
              <a:ext uri="{FF2B5EF4-FFF2-40B4-BE49-F238E27FC236}">
                <a16:creationId xmlns:a16="http://schemas.microsoft.com/office/drawing/2014/main" id="{6DC43320-1858-E06E-72C0-18793F311DBE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2.3</a:t>
            </a:r>
            <a:r>
              <a:rPr kumimoji="1" lang="zh-CN" altLang="en-US" sz="2400" b="1" dirty="0"/>
              <a:t> 状态转换模式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357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519" r="519"/>
          <a:stretch>
            <a:fillRect/>
          </a:stretch>
        </p:blipFill>
        <p:spPr>
          <a:xfrm>
            <a:off x="762000" y="1666240"/>
            <a:ext cx="5080000" cy="2890520"/>
          </a:xfrm>
          <a:prstGeom prst="rect">
            <a:avLst/>
          </a:prstGeom>
          <a:noFill/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28A74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4825999"/>
            <a:ext cx="4699000" cy="13969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</a:t>
            </a:r>
            <a:r>
              <a:rPr lang="en-US" sz="13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操作提示</a:t>
            </a:r>
            <a:r>
              <a:rPr lang="en-US" sz="13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状态栏实时反映机器人系统的运行状态与故障代码。遇到报错时，切勿随意操作，建议优先查阅官方手册对照错误代码排查原因，再进行复位或恢复操作。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8415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</a:t>
            </a: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关键功能按钮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477000" y="2413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重置</a:t>
            </a:r>
            <a:r>
              <a:rPr lang="en-US" sz="13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(Reset)：</a:t>
            </a:r>
          </a:p>
          <a:p>
            <a:pPr indent="0" algn="l">
              <a:lnSpc>
                <a:spcPct val="150000"/>
              </a:lnSpc>
              <a:defRPr/>
            </a:pP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清除错误状态，尝试恢复正常运行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3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获取错误</a:t>
            </a:r>
            <a:r>
              <a:rPr lang="en-US" sz="13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(Get Error)：</a:t>
            </a:r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读取并显示伺服电机报错代码，便于排查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921750" y="2413000"/>
            <a:ext cx="234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 dirty="0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抱闸</a:t>
            </a:r>
            <a:r>
              <a:rPr lang="en-US" sz="1300" b="1" i="0" u="none" strike="noStrike" dirty="0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300" b="1" i="0" u="none" strike="noStrike" dirty="0" err="1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松抱闸</a:t>
            </a:r>
            <a:r>
              <a:rPr lang="en-US" sz="1300" b="1" i="0" u="none" strike="noStrike" dirty="0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indent="0" algn="l">
              <a:lnSpc>
                <a:spcPct val="150000"/>
              </a:lnSpc>
              <a:defRPr/>
            </a:pP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锁定或释放电机刹车，用于维护及拖动示教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300" b="1" i="0" u="none" strike="noStrike" dirty="0">
                <a:solidFill>
                  <a:srgbClr val="FFC1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FFC1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CR协作释放</a:t>
            </a:r>
            <a:r>
              <a:rPr lang="en-US" sz="1300" b="1" i="0" u="none" strike="noStrike" dirty="0">
                <a:solidFill>
                  <a:srgbClr val="FFC1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indent="0" algn="l">
              <a:lnSpc>
                <a:spcPct val="150000"/>
              </a:lnSpc>
            </a:pP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提供力补偿，用于轻松释放机器人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4318000"/>
            <a:ext cx="5207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45085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🔄 </a:t>
            </a: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标准错误处理流程</a:t>
            </a:r>
            <a:endParaRPr lang="en-US" sz="1100" dirty="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5080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58000" y="5080000"/>
            <a:ext cx="927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>
              <a:lnSpc>
                <a:spcPct val="150000"/>
              </a:lnSpc>
              <a:defRPr/>
            </a:pPr>
            <a:r>
              <a:rPr lang="en-US" sz="12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查看代码</a:t>
            </a:r>
            <a:endParaRPr lang="en-US" sz="1100" dirty="0"/>
          </a:p>
          <a:p>
            <a:pPr indent="0">
              <a:lnSpc>
                <a:spcPct val="150000"/>
              </a:lnSpc>
            </a:pPr>
            <a:r>
              <a:rPr lang="en-US" sz="10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获取具体故障码</a:t>
            </a:r>
            <a:endParaRPr lang="en-US" sz="10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75600" y="5080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356600" y="5080000"/>
            <a:ext cx="82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>
              <a:lnSpc>
                <a:spcPct val="150000"/>
              </a:lnSpc>
              <a:defRPr/>
            </a:pPr>
            <a:r>
              <a:rPr lang="en-US" sz="12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手册排查</a:t>
            </a:r>
            <a:endParaRPr lang="en-US" sz="1100" dirty="0"/>
          </a:p>
          <a:p>
            <a:pPr indent="0">
              <a:lnSpc>
                <a:spcPct val="150000"/>
              </a:lnSpc>
            </a:pPr>
            <a:r>
              <a:rPr lang="en-US" sz="10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对照说明分析</a:t>
            </a:r>
            <a:endParaRPr lang="en-US" sz="10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6100" y="5080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817099" y="5080000"/>
            <a:ext cx="970349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>
              <a:lnSpc>
                <a:spcPct val="150000"/>
              </a:lnSpc>
              <a:defRPr/>
            </a:pPr>
            <a:r>
              <a:rPr lang="en-US" sz="12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恢复操作</a:t>
            </a:r>
            <a:endParaRPr lang="en-US" sz="1100" dirty="0"/>
          </a:p>
          <a:p>
            <a:pPr indent="0">
              <a:lnSpc>
                <a:spcPct val="150000"/>
              </a:lnSpc>
            </a:pPr>
            <a:r>
              <a:rPr lang="en-US" sz="10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执行重置或复位</a:t>
            </a:r>
            <a:endParaRPr lang="en-US" sz="10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FD90F7F-9CE0-C3F2-8661-B9F417B387D7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9E3A2BD-E373-C0E5-3D34-9D985A823E80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21" name="AutoShape 3">
              <a:extLst>
                <a:ext uri="{FF2B5EF4-FFF2-40B4-BE49-F238E27FC236}">
                  <a16:creationId xmlns:a16="http://schemas.microsoft.com/office/drawing/2014/main" id="{DC55CD30-0A76-D56A-E00C-5AEB5CE528E5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、核心操作模块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文本框 13">
            <a:extLst>
              <a:ext uri="{FF2B5EF4-FFF2-40B4-BE49-F238E27FC236}">
                <a16:creationId xmlns:a16="http://schemas.microsoft.com/office/drawing/2014/main" id="{A49574BD-140B-0721-AE8F-A6CD9B4F4091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3.1</a:t>
            </a:r>
            <a:r>
              <a:rPr kumimoji="1" lang="zh-CN" altLang="en-US" sz="2400" b="1" dirty="0"/>
              <a:t> 错误处理状态栏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606061" y="1524000"/>
            <a:ext cx="1651000" cy="3810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50561" y="19050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733061" y="2921000"/>
            <a:ext cx="1397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关节数据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实时追踪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各个关节的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 / 速度 / 力矩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全维度状态反馈</a:t>
            </a: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8384061" y="1524000"/>
            <a:ext cx="1651000" cy="3810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28561" y="19050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8511061" y="2921000"/>
            <a:ext cx="1397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轴外力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精确反馈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末端的</a:t>
            </a:r>
            <a:r>
              <a:rPr lang="zh-CN" alt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所受的力，已补偿摩檫力，自身重力</a:t>
            </a: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10162061" y="1524000"/>
            <a:ext cx="1651000" cy="3810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606561" y="19050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289061" y="2921000"/>
            <a:ext cx="1397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目标位置</a:t>
            </a: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zh-CN" alt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输出目标位置的命令值，从而查看发送给机器人的命令是否和预期一致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588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5313" y="5715000"/>
            <a:ext cx="10142837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点击切换数据显示</a:t>
            </a:r>
            <a:endParaRPr lang="en-US" sz="1800" b="1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en-US" sz="1300" b="0" i="0" u="none" strike="noStrike" dirty="0" err="1">
                <a:solidFill>
                  <a:srgbClr val="E6F8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</a:t>
            </a:r>
            <a:r>
              <a:rPr lang="zh-CN" altLang="en-US" sz="1300" b="0" i="0" u="none" strike="noStrike" dirty="0">
                <a:solidFill>
                  <a:srgbClr val="E6F8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、命令位置、速度、传感器扭矩、外部扭矩、电机扭矩、外部位置、基座陀螺仪、法兰力</a:t>
            </a:r>
            <a:endParaRPr lang="en-US" sz="11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5939" y="1708160"/>
            <a:ext cx="5971061" cy="3444914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166D9919-1698-5A6A-44B3-BE897C60285E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1BBC9C3-79A6-AB48-2A84-1A3DC4B712E1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21" name="AutoShape 3">
              <a:extLst>
                <a:ext uri="{FF2B5EF4-FFF2-40B4-BE49-F238E27FC236}">
                  <a16:creationId xmlns:a16="http://schemas.microsoft.com/office/drawing/2014/main" id="{DD7C0805-FDCA-776B-9760-D1CDC6E2950A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、核心操作模块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文本框 13">
            <a:extLst>
              <a:ext uri="{FF2B5EF4-FFF2-40B4-BE49-F238E27FC236}">
                <a16:creationId xmlns:a16="http://schemas.microsoft.com/office/drawing/2014/main" id="{214C2386-2738-889A-3F2D-0E5596F8C68F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3.2</a:t>
            </a:r>
            <a:r>
              <a:rPr kumimoji="1" lang="zh-CN" altLang="en-US" sz="2400" b="1" dirty="0"/>
              <a:t> 实时数据显示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508000" y="2321626"/>
            <a:ext cx="4484130" cy="1488936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2321626"/>
            <a:ext cx="3810000" cy="14889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</a:t>
            </a:r>
            <a:r>
              <a:rPr lang="en-US" sz="19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获取当前位置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点击界面中的“GetCurPos”按钮，系统将自动读取当前所有关节的实时角度数据，并将其保存至点位列表中，形成一个可复用的点位数据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999203" y="595859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▲ </a:t>
            </a: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关节角度命令模块软件界面示意图</a:t>
            </a:r>
            <a:endParaRPr lang="en-US" sz="11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130" y="2039327"/>
            <a:ext cx="6586146" cy="379972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D9091DF-9C02-C346-39B7-394A72AC526D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E69C1CD-72E2-43B0-CCCB-D71D369431CD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E232D5C6-F3D4-B17B-B63B-C70154856857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、核心操作模块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212805C9-4121-6B18-D2FD-057AE0351486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3.3</a:t>
            </a:r>
            <a:r>
              <a:rPr kumimoji="1" lang="zh-CN" altLang="en-US" sz="2400" b="1" dirty="0"/>
              <a:t> 关节角度命令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975700A-A32D-740F-277E-2F3FDBF57343}"/>
              </a:ext>
            </a:extLst>
          </p:cNvPr>
          <p:cNvSpPr txBox="1"/>
          <p:nvPr/>
        </p:nvSpPr>
        <p:spPr>
          <a:xfrm>
            <a:off x="5791399" y="1577662"/>
            <a:ext cx="5495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通过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运行命令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将机器人机械臂移动到目标物理位置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kumimoji="1"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E83C412A-C582-D308-D815-0EED70CB701F}"/>
              </a:ext>
            </a:extLst>
          </p:cNvPr>
          <p:cNvSpPr/>
          <p:nvPr/>
        </p:nvSpPr>
        <p:spPr>
          <a:xfrm>
            <a:off x="508000" y="4009662"/>
            <a:ext cx="4484130" cy="1488936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>
              <a:defRPr/>
            </a:pPr>
            <a:endParaRPr dirty="0"/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243E01C3-F84D-0A80-79AD-3E6B6E53D4B9}"/>
              </a:ext>
            </a:extLst>
          </p:cNvPr>
          <p:cNvSpPr/>
          <p:nvPr/>
        </p:nvSpPr>
        <p:spPr>
          <a:xfrm>
            <a:off x="762000" y="4009662"/>
            <a:ext cx="3810000" cy="14889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en-US" sz="19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r>
              <a:rPr lang="en-US" altLang="zh-CN" sz="19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sz="19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 </a:t>
            </a:r>
            <a:r>
              <a:rPr lang="en-US" altLang="zh-CN" sz="1900" b="1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添加点位</a:t>
            </a:r>
            <a:r>
              <a:rPr lang="en-US" altLang="zh-CN" sz="1900" b="1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</a:t>
            </a:r>
            <a:r>
              <a:rPr lang="en-US" altLang="zh-CN" sz="1900" b="1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手动输入</a:t>
            </a:r>
            <a:r>
              <a:rPr lang="en-US" altLang="zh-CN" sz="1900" b="1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sz="1100" dirty="0"/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无需物理移动机器人，直接在软件界面输入框中填写各轴关节的目标角度数值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点击“添加”后即可将其加入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点位列表</a:t>
            </a: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08000" y="1858665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2112665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524000" y="2087265"/>
            <a:ext cx="3937000" cy="158269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删除点位</a:t>
            </a:r>
            <a:endParaRPr lang="en-US" sz="1100" dirty="0"/>
          </a:p>
          <a:p>
            <a:pPr indent="0" algn="l">
              <a:lnSpc>
                <a:spcPct val="150000"/>
              </a:lnSpc>
              <a:spcBef>
                <a:spcPts val="1200"/>
              </a:spcBef>
            </a:pPr>
            <a:r>
              <a:rPr lang="en-US" sz="13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从点位列表中选中想要删除的点位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点击“删除”按钮，在弹出的确认框中确认操作即可完成删除</a:t>
            </a:r>
            <a:endParaRPr lang="en-US" sz="13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508000" y="4144665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2000" y="4398665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1524000" y="4373264"/>
            <a:ext cx="3937000" cy="1570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运行点位</a:t>
            </a:r>
            <a:endParaRPr lang="en-US" sz="1100" dirty="0"/>
          </a:p>
          <a:p>
            <a:pPr indent="0" algn="l">
              <a:lnSpc>
                <a:spcPct val="150000"/>
              </a:lnSpc>
              <a:spcBef>
                <a:spcPts val="1200"/>
              </a:spcBef>
            </a:pPr>
            <a:r>
              <a:rPr lang="en-US" sz="13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选择目标点位并设置运动参数（速度、加速度</a:t>
            </a:r>
            <a:r>
              <a:rPr lang="en-US" sz="13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点击“运行”按钮执行，支持单点运行</a:t>
            </a:r>
            <a:endParaRPr lang="en-US" sz="13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7260" y="1917085"/>
            <a:ext cx="5872480" cy="338836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93D10ECE-BE6D-A26F-3A7E-340A35BF34CE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4F6534F-433A-F5A2-56BE-1B052693BAE4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96FDD93C-A0CE-2EBB-6B33-B013F8398C43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、核心操作模块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C7C9D80E-F4D3-EB14-2B09-AF683DBDCEE8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3.3</a:t>
            </a:r>
            <a:r>
              <a:rPr kumimoji="1" lang="zh-CN" altLang="en-US" sz="2400" b="1" dirty="0"/>
              <a:t> 关节角度命令</a:t>
            </a:r>
          </a:p>
        </p:txBody>
      </p:sp>
      <p:sp>
        <p:nvSpPr>
          <p:cNvPr id="20" name="AutoShape 11">
            <a:extLst>
              <a:ext uri="{FF2B5EF4-FFF2-40B4-BE49-F238E27FC236}">
                <a16:creationId xmlns:a16="http://schemas.microsoft.com/office/drawing/2014/main" id="{36D28D18-BCD1-DFCD-9EE7-C908FA196FB4}"/>
              </a:ext>
            </a:extLst>
          </p:cNvPr>
          <p:cNvSpPr/>
          <p:nvPr/>
        </p:nvSpPr>
        <p:spPr>
          <a:xfrm>
            <a:off x="6413500" y="5551957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▲ </a:t>
            </a: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关节角度命令模块软件界面示意图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5">
            <a:extLst>
              <a:ext uri="{FF2B5EF4-FFF2-40B4-BE49-F238E27FC236}">
                <a16:creationId xmlns:a16="http://schemas.microsoft.com/office/drawing/2014/main" id="{7012ACF4-6657-A9DD-945C-E4A967C342B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484129" y="3130550"/>
            <a:ext cx="3223741" cy="2908548"/>
          </a:xfrm>
          <a:prstGeom prst="roundRect">
            <a:avLst>
              <a:gd name="adj" fmla="val 484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508000" y="3130550"/>
            <a:ext cx="3223741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2000" y="3300596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397000" y="3338696"/>
            <a:ext cx="216174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数据显示按钮</a:t>
            </a:r>
            <a:endParaRPr lang="en-US" sz="1100" dirty="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762000" y="3981450"/>
            <a:ext cx="2796746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切换显示格式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indent="0" algn="l">
              <a:lnSpc>
                <a:spcPct val="150000"/>
              </a:lnSpc>
              <a:defRPr/>
            </a:pPr>
            <a:r>
              <a:rPr lang="en-US" sz="130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点击此按钮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支持关节角度与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速度，力矩等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快速切换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显示</a:t>
            </a:r>
            <a:endParaRPr lang="en-US" sz="11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6"/>
          <a:srcRect t="208" r="110" b="80123"/>
          <a:stretch>
            <a:fillRect/>
          </a:stretch>
        </p:blipFill>
        <p:spPr>
          <a:xfrm>
            <a:off x="505254" y="1403076"/>
            <a:ext cx="11181492" cy="1270183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2B4BCAD7-016B-1B5F-C3B6-9D4A972C4102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3C0BFAD-CE6C-7280-FC08-CB9463ED24AB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9" name="AutoShape 3">
              <a:extLst>
                <a:ext uri="{FF2B5EF4-FFF2-40B4-BE49-F238E27FC236}">
                  <a16:creationId xmlns:a16="http://schemas.microsoft.com/office/drawing/2014/main" id="{849F1E68-4554-A6C9-3583-C883E3594F46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AutoShape 7">
            <a:extLst>
              <a:ext uri="{FF2B5EF4-FFF2-40B4-BE49-F238E27FC236}">
                <a16:creationId xmlns:a16="http://schemas.microsoft.com/office/drawing/2014/main" id="{3664DFDE-CC3E-737B-A692-104F0EAA142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373129" y="3338696"/>
            <a:ext cx="216174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软急停操作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24" name="AutoShape 8">
            <a:extLst>
              <a:ext uri="{FF2B5EF4-FFF2-40B4-BE49-F238E27FC236}">
                <a16:creationId xmlns:a16="http://schemas.microsoft.com/office/drawing/2014/main" id="{871B9526-E9F2-16A8-37F7-21336133E18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38129" y="3981450"/>
            <a:ext cx="2796746" cy="20576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50000"/>
              </a:lnSpc>
              <a:defRPr/>
            </a:pPr>
            <a:r>
              <a:rPr lang="en-US" altLang="zh-CN" sz="1300" b="1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软件急停功能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在无法触及物理急停按钮时的备用安全措施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300" b="1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急停</a:t>
            </a:r>
            <a:r>
              <a:rPr lang="zh-CN" altLang="en-US" sz="1300" b="1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复位</a:t>
            </a:r>
            <a:r>
              <a:rPr lang="en-US" altLang="zh-CN" sz="1300" b="1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Reset复位功能，解决急停后快速恢复设备待机状态的需求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乘 24">
            <a:extLst>
              <a:ext uri="{FF2B5EF4-FFF2-40B4-BE49-F238E27FC236}">
                <a16:creationId xmlns:a16="http://schemas.microsoft.com/office/drawing/2014/main" id="{F9CE6179-169C-57E3-1855-1DACD7EE9DCF}"/>
              </a:ext>
            </a:extLst>
          </p:cNvPr>
          <p:cNvSpPr/>
          <p:nvPr/>
        </p:nvSpPr>
        <p:spPr>
          <a:xfrm>
            <a:off x="4738129" y="3300596"/>
            <a:ext cx="462005" cy="462005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AutoShape 5">
            <a:extLst>
              <a:ext uri="{FF2B5EF4-FFF2-40B4-BE49-F238E27FC236}">
                <a16:creationId xmlns:a16="http://schemas.microsoft.com/office/drawing/2014/main" id="{711CE908-5652-7FBF-47B7-F5D715F6A67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460259" y="3130550"/>
            <a:ext cx="3223741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7">
            <a:extLst>
              <a:ext uri="{FF2B5EF4-FFF2-40B4-BE49-F238E27FC236}">
                <a16:creationId xmlns:a16="http://schemas.microsoft.com/office/drawing/2014/main" id="{599D277B-FE9C-6DA6-BF77-5711DAE3E6B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349259" y="3319646"/>
            <a:ext cx="216174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4370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更多功能</a:t>
            </a:r>
            <a:endParaRPr lang="en-US" sz="1100" dirty="0">
              <a:solidFill>
                <a:srgbClr val="4370C1"/>
              </a:solidFill>
            </a:endParaRPr>
          </a:p>
        </p:txBody>
      </p:sp>
      <p:sp>
        <p:nvSpPr>
          <p:cNvPr id="29" name="AutoShape 8">
            <a:extLst>
              <a:ext uri="{FF2B5EF4-FFF2-40B4-BE49-F238E27FC236}">
                <a16:creationId xmlns:a16="http://schemas.microsoft.com/office/drawing/2014/main" id="{2F91D31F-CABC-562B-2F7E-393B34B9EDC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714259" y="3981450"/>
            <a:ext cx="2796746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功能列表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indent="0" algn="l">
              <a:lnSpc>
                <a:spcPct val="150000"/>
              </a:lnSpc>
              <a:defRPr/>
            </a:pPr>
            <a:r>
              <a:rPr lang="en-US" sz="1300" dirty="0" err="1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动力学</a:t>
            </a:r>
            <a:r>
              <a:rPr lang="en-US" altLang="zh-CN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运动学设置、</a:t>
            </a:r>
            <a:r>
              <a:rPr lang="en-US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CAN/485通讯测试</a:t>
            </a:r>
            <a:r>
              <a:rPr lang="zh-CN" altLang="en-US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IMU</a:t>
            </a:r>
            <a:r>
              <a:rPr lang="zh-CN" altLang="en-US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计算、传感器</a:t>
            </a:r>
            <a:r>
              <a:rPr lang="en-US" altLang="zh-CN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编码器信息、运动规划、系统升级等</a:t>
            </a:r>
            <a:endParaRPr lang="en-US" altLang="zh-CN" sz="1300" dirty="0">
              <a:solidFill>
                <a:srgbClr val="495057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立方体 29">
            <a:extLst>
              <a:ext uri="{FF2B5EF4-FFF2-40B4-BE49-F238E27FC236}">
                <a16:creationId xmlns:a16="http://schemas.microsoft.com/office/drawing/2014/main" id="{7D3F5442-88B3-20BE-118A-0B6413A6AC74}"/>
              </a:ext>
            </a:extLst>
          </p:cNvPr>
          <p:cNvSpPr/>
          <p:nvPr/>
        </p:nvSpPr>
        <p:spPr>
          <a:xfrm>
            <a:off x="8714259" y="3300596"/>
            <a:ext cx="419100" cy="419100"/>
          </a:xfrm>
          <a:prstGeom prst="cube">
            <a:avLst/>
          </a:prstGeom>
          <a:ln w="952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173163" y="1593056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27163" y="2024856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062163" y="1593054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CAN/485设置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通过末端</a:t>
            </a:r>
            <a:r>
              <a:rPr lang="en-US" altLang="zh-CN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8PIN</a:t>
            </a: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接头与其他设备通信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8280489" y="1593056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34489" y="2024856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9169489" y="1593054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IMU</a:t>
            </a:r>
            <a:r>
              <a:rPr lang="zh-CN" alt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计算不同</a:t>
            </a:r>
            <a:r>
              <a:rPr lang="en-US" altLang="zh-CN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IMU</a:t>
            </a: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安装方式下的旋转角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5173163" y="3244056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427163" y="3675856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062163" y="3244055"/>
            <a:ext cx="1651000" cy="12699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</a:t>
            </a:r>
            <a:r>
              <a:rPr lang="en-US" altLang="zh-CN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编码器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进行传感器</a:t>
            </a:r>
            <a:r>
              <a:rPr lang="en-US" altLang="zh-CN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编码器零点校准及错误</a:t>
            </a:r>
            <a:r>
              <a:rPr lang="zh-CN" altLang="en-US" sz="1200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清除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8280489" y="3244056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534489" y="3675856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9169489" y="3244056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运动规划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进行关节空间和笛卡尔空间的规划，并运行规划轨迹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5173163" y="4895056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427163" y="5326856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6062163" y="4895054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动力学</a:t>
            </a:r>
            <a:r>
              <a:rPr lang="en-US" altLang="zh-CN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运动学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200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设置动力学和运动学参数</a:t>
            </a:r>
            <a:r>
              <a:rPr lang="zh-CN" altLang="en-US" sz="1200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，目前仅支持双臂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6"/>
            </p:custDataLst>
          </p:nvPr>
        </p:nvSpPr>
        <p:spPr>
          <a:xfrm>
            <a:off x="8280489" y="4895056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534489" y="5326856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18"/>
            </p:custDataLst>
          </p:nvPr>
        </p:nvSpPr>
        <p:spPr>
          <a:xfrm>
            <a:off x="9169489" y="4895054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查看软件当前版本号、版权声明及许可信息，确保合规使用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EBB456E-6403-4F60-2687-15AE2B19EFAB}"/>
              </a:ext>
            </a:extLst>
          </p:cNvPr>
          <p:cNvGrpSpPr/>
          <p:nvPr/>
        </p:nvGrpSpPr>
        <p:grpSpPr>
          <a:xfrm>
            <a:off x="-16933" y="0"/>
            <a:ext cx="12192000" cy="900113"/>
            <a:chOff x="0" y="-1"/>
            <a:chExt cx="12192000" cy="90011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EE481DF-B444-7BA5-1389-C924554A5915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28" name="AutoShape 3">
              <a:extLst>
                <a:ext uri="{FF2B5EF4-FFF2-40B4-BE49-F238E27FC236}">
                  <a16:creationId xmlns:a16="http://schemas.microsoft.com/office/drawing/2014/main" id="{33A4F235-D4CB-D858-949D-1252130B3B4F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0" name="图片 29" descr="文本&#10;&#10;AI 生成的内容可能不正确。">
            <a:extLst>
              <a:ext uri="{FF2B5EF4-FFF2-40B4-BE49-F238E27FC236}">
                <a16:creationId xmlns:a16="http://schemas.microsoft.com/office/drawing/2014/main" id="{91073DDE-74B6-1F33-93D8-42364D8BDFA0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5400000">
            <a:off x="286782" y="2139144"/>
            <a:ext cx="4601040" cy="34507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A4C2D-5734-C154-85DC-FBC50304E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979BE18-9250-1BA5-D66D-366F81C5E0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4F18DA4-C043-2F82-A35C-8A79425671E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8000" y="1810243"/>
            <a:ext cx="10922000" cy="1488936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7AF5B3A-1001-54E0-5D4F-3CBBE07412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62000" y="1810243"/>
            <a:ext cx="10347278" cy="14889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参数编写</a:t>
            </a:r>
            <a:endParaRPr lang="en-US" sz="1100" dirty="0"/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Dynamics 10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个参数分别为工具质量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M，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相对于末端法兰盘中心的质心位置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Mx,My,Mz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惯量积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Ixx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lxy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xz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ly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yz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lz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设置该参数从而提供高可靠的阻抗功能，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Kinematics6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个参数分别为工具坐标系相对于末端法兰盘坐标系的位姿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Rx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RY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Rz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Rx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Ry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Rz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X-Y-Z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欧拉角，设置该参数从而可以关注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的运动，方便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FK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IK，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完成任务</a:t>
            </a:r>
            <a:endParaRPr 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F3B929E-E677-8459-15F5-D086F0E2DB1D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D6C6482-9596-3EB4-A9E8-E8B4C45A787A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445DC064-78C7-D8E5-A0E6-8B0FB39D8966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F54C26AA-4695-5BF7-3DA9-6B39E5A2F50E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4.1</a:t>
            </a:r>
            <a:r>
              <a:rPr kumimoji="1" lang="zh-CN" altLang="en-US" sz="2400" b="1" dirty="0"/>
              <a:t> 动力学</a:t>
            </a:r>
            <a:r>
              <a:rPr kumimoji="1" lang="en-US" altLang="zh-CN" sz="2400" b="1" dirty="0"/>
              <a:t>/</a:t>
            </a:r>
            <a:r>
              <a:rPr kumimoji="1" lang="zh-CN" altLang="en-US" sz="2400" b="1" dirty="0"/>
              <a:t>运动学参数设置</a:t>
            </a:r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8DC031D-2847-C00C-BEDE-F90309063A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048" y="3558822"/>
            <a:ext cx="10809903" cy="313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69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39237-8120-5714-2F43-4E192136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A058CF2-750F-48C8-5CF3-1EEB90CB05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8FE98F3-98D9-5A37-1137-3C11FB8039E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8000" y="4994037"/>
            <a:ext cx="10922000" cy="1488936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FB73265-D203-C566-DA05-581CA696D4F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62000" y="4994037"/>
            <a:ext cx="10347278" cy="14889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操作步骤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点击末端透传按钮，选择串口（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CAN/COM1/COM2，COM1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COM2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对应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485 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CH1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485 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CH2）；②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HEX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数据，左右臂加指令，下拉列表查看历史指令；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左右臂发送数据，接受内容框显示接受数据；内容框可编辑。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左右臂接收数据。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34B6DD1-3460-11BD-68AA-5BFF53A24AA0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C3628A3-EE48-8317-2411-7D5AEE7BCAD2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13383255-51BE-5C6F-72C9-EFF80B47A009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89CC60EC-83C4-722E-4189-787A2FB9F93A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4.2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CAN/485</a:t>
            </a:r>
            <a:endParaRPr kumimoji="1" lang="zh-CN" altLang="en-US" sz="2400" b="1" dirty="0"/>
          </a:p>
        </p:txBody>
      </p:sp>
      <p:pic>
        <p:nvPicPr>
          <p:cNvPr id="9" name="图片 8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B4A8B375-2299-40A4-199C-0D1F660E689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2872"/>
          <a:stretch>
            <a:fillRect/>
          </a:stretch>
        </p:blipFill>
        <p:spPr>
          <a:xfrm>
            <a:off x="508000" y="2072529"/>
            <a:ext cx="10922000" cy="243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65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B29FA-9960-5646-AA71-2F901E43D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5039E9E-F796-0937-D8AE-9CB478E292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9C98AAE-E0C9-EFB4-56EC-52E021B1A1A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688184" y="1581162"/>
            <a:ext cx="4741816" cy="1658774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8D2CD9C-5A94-6C84-E01D-C8CAA520B76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974117" y="1581160"/>
            <a:ext cx="4199867" cy="16587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传感器重置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首次启动控制器并连接控制器后，在机器人的机械零点位置时，切换查看 “传感器数据”，如果机器人传感器反馈数值和理论数值不一致，应进行传感器重置</a:t>
            </a:r>
            <a:endParaRPr lang="zh-CN" alt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CDCFA9B-5C38-5038-2CBF-2E81EF9D54F1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EA7473C-72A1-7DBC-9C8D-EF45764BBF73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1F63E238-B68C-CFC4-9A04-C0CB44750C4B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D0DC5F16-CD66-148E-3370-0C37ABFA1D51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4.3</a:t>
            </a:r>
            <a:r>
              <a:rPr kumimoji="1" lang="zh-CN" altLang="en-US" sz="2400" b="1" dirty="0"/>
              <a:t> 传感器</a:t>
            </a:r>
            <a:r>
              <a:rPr kumimoji="1" lang="en-US" altLang="zh-CN" sz="2400" b="1" dirty="0"/>
              <a:t>/</a:t>
            </a:r>
            <a:r>
              <a:rPr kumimoji="1" lang="zh-CN" altLang="en-US" sz="2400" b="1" dirty="0"/>
              <a:t>编码器</a:t>
            </a:r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A338F95C-BB5C-A9B1-37C9-19528227915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0083"/>
          <a:stretch>
            <a:fillRect/>
          </a:stretch>
        </p:blipFill>
        <p:spPr>
          <a:xfrm>
            <a:off x="508001" y="1800542"/>
            <a:ext cx="5958114" cy="4601718"/>
          </a:xfrm>
          <a:prstGeom prst="rect">
            <a:avLst/>
          </a:prstGeom>
        </p:spPr>
      </p:pic>
      <p:sp>
        <p:nvSpPr>
          <p:cNvPr id="7" name="AutoShape 4">
            <a:extLst>
              <a:ext uri="{FF2B5EF4-FFF2-40B4-BE49-F238E27FC236}">
                <a16:creationId xmlns:a16="http://schemas.microsoft.com/office/drawing/2014/main" id="{7AB4EBDB-3207-B745-FE86-C3F966D8D44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688184" y="3429001"/>
            <a:ext cx="4741816" cy="1392097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1A07C873-6822-0D04-B06E-D3F564C148C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974117" y="3429001"/>
            <a:ext cx="4199867" cy="139209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编码器清零和清错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日常调试中注意零点编码器值是否正常，如不正常，机械臂应回到机械零点位置后，进行内外编码器清零和清错。</a:t>
            </a:r>
            <a:endParaRPr lang="zh-CN" alt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94701754-E082-0FCB-667D-E4C41D68098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688184" y="5010163"/>
            <a:ext cx="4741816" cy="1392097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52E6C4C9-C70E-B279-A20E-426C01B98B8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974117" y="5010162"/>
            <a:ext cx="4199867" cy="139209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取消软限位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允许对各机械单位进行关节限位解除，仅能在下使能情况下使用。再一次上使能时，软限位将重新生效</a:t>
            </a:r>
            <a:endParaRPr lang="zh-CN" alt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9756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E5C8A-A837-2285-B4C3-25D29768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4D84AF6-BE15-5D12-1B42-04039DBE6F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9A75278-894F-DD3E-F1B8-71BF7FA83087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2BD1834-32B0-26A0-889B-96E694EB8DBB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1310D5DA-9D9E-D671-8871-188EE448E47E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CA6AA3E2-CD42-9EDB-1BDE-57DDBAB71E1D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4.4.1</a:t>
            </a:r>
            <a:r>
              <a:rPr kumimoji="1" lang="zh-CN" altLang="en-US" sz="2400" b="1" dirty="0"/>
              <a:t> 运动规划 </a:t>
            </a:r>
            <a:r>
              <a:rPr kumimoji="1" lang="en-US" altLang="zh-CN" sz="2400" b="1" dirty="0"/>
              <a:t>-</a:t>
            </a:r>
            <a:r>
              <a:rPr kumimoji="1" lang="zh-CN" altLang="en-US" sz="2400" b="1" dirty="0"/>
              <a:t> 关节空间运动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1851EFA-5E3E-4EA5-5625-5D7E3465211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14644" y="4189295"/>
            <a:ext cx="5226373" cy="2383969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5013AE9-EE6E-43E8-64F3-66497653BFD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28515" y="4403895"/>
            <a:ext cx="4649031" cy="19526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dirty="0" err="1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核心原理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不控制末端走直线，直接对各电机关节角度做插值运动，每个轴独立匀速转动，末端轨迹是曲线，速度快、计算简单，适合大范围快速移位。</a:t>
            </a:r>
            <a:endParaRPr lang="zh-CN" alt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图片 8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8425AFD6-BA70-91E7-D6CF-F713E4674ED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016" b="74791"/>
          <a:stretch>
            <a:fillRect/>
          </a:stretch>
        </p:blipFill>
        <p:spPr>
          <a:xfrm>
            <a:off x="521505" y="1693242"/>
            <a:ext cx="11148989" cy="2383971"/>
          </a:xfrm>
          <a:prstGeom prst="rect">
            <a:avLst/>
          </a:prstGeom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CFF82AD1-91AF-85D0-C3DE-77EC69AFBB6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254888" y="4189295"/>
            <a:ext cx="5226373" cy="238397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7D225D5F-2A26-1C14-A7A1-303EF7F205F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568759" y="4403894"/>
            <a:ext cx="4649031" cy="195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dirty="0" err="1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参数说明</a:t>
            </a:r>
            <a:endParaRPr lang="en-US" sz="1100" dirty="0"/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Start joints</a:t>
            </a:r>
            <a:r>
              <a:rPr lang="zh-CN" altLang="e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运动起始的 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 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个关节角度，</a:t>
            </a:r>
            <a:r>
              <a:rPr lang="en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GetCur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一键读取机器人当前实时关节角度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End joints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目标关节角度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Freq 50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运动控制周期 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</a:t>
            </a: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Hz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备注代表频率上限规则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Vel / Acc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关节空间速度、加速度</a:t>
            </a:r>
          </a:p>
        </p:txBody>
      </p:sp>
    </p:spTree>
    <p:extLst>
      <p:ext uri="{BB962C8B-B14F-4D97-AF65-F5344CB8AC3E}">
        <p14:creationId xmlns:p14="http://schemas.microsoft.com/office/powerpoint/2010/main" val="629167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9805A-77AE-F57D-DD61-C811F6384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6CB955A-0F78-2ECA-5B71-99547871F0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258C1FB-CE3F-0757-1F5F-E27372994CCF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AEBADD4-A839-F3D3-AF2E-F48EF664132C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A4E69AB0-14C5-A381-BB4B-55F1EEDFB6DF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3A814F85-F498-E9BB-6AB6-505F4BB1328B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4.4.2</a:t>
            </a:r>
            <a:r>
              <a:rPr kumimoji="1" lang="zh-CN" altLang="en-US" sz="2400" b="1" dirty="0"/>
              <a:t> 运动规划 </a:t>
            </a:r>
            <a:r>
              <a:rPr kumimoji="1" lang="en-US" altLang="zh-CN" sz="2400" b="1" dirty="0"/>
              <a:t>-</a:t>
            </a:r>
            <a:r>
              <a:rPr kumimoji="1" lang="zh-CN" altLang="en-US" sz="2400" b="1" dirty="0"/>
              <a:t> 笛卡尔空间运动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DCD088E2-7928-D98E-18BC-8A7C36EF40F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14644" y="4390153"/>
            <a:ext cx="10715356" cy="154921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2AC6B7AC-EDD2-64D3-0BA0-C5016A2BA4E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28515" y="4604753"/>
            <a:ext cx="10052773" cy="13346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Joints to joints (linear)</a:t>
            </a: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关节点位映射笛卡尔直线</a:t>
            </a:r>
            <a:endParaRPr lang="en-US" sz="1100" dirty="0"/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输入起点、终点关节角度，控制器自动逆解，保证机械臂末端 </a:t>
            </a:r>
            <a:r>
              <a:rPr lang="en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 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工具走空间直线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Vel 100 / Acc 100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：笛卡尔空间速度加速度，量程 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1~1000</a:t>
            </a:r>
            <a:endParaRPr lang="zh-CN" alt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图片 8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E0D5EE54-5520-C7B7-BEB2-797A045E8F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9" t="24425" r="1896" b="52192"/>
          <a:stretch>
            <a:fillRect/>
          </a:stretch>
        </p:blipFill>
        <p:spPr>
          <a:xfrm>
            <a:off x="521505" y="1693242"/>
            <a:ext cx="11148989" cy="221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960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EE04E-9A4A-2290-548D-01719034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1D8D34E-16F3-7F55-28A3-F314136373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CF3DDEC-C1AB-0A34-815D-078DD7C6E736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7FC13E0-EDAF-724F-FE11-D279274373BD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2435CE83-FAF4-037D-B5C9-B02502575750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D5F6DB05-B02F-5979-FC2E-0707A481BB8B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4.4.3</a:t>
            </a:r>
            <a:r>
              <a:rPr kumimoji="1" lang="zh-CN" altLang="en-US" sz="2400" b="1" dirty="0"/>
              <a:t> 运动规划 </a:t>
            </a:r>
            <a:r>
              <a:rPr kumimoji="1" lang="en-US" altLang="zh-CN" sz="2400" b="1" dirty="0"/>
              <a:t>-</a:t>
            </a:r>
            <a:r>
              <a:rPr kumimoji="1" lang="zh-CN" altLang="en-US" sz="2400" b="1" dirty="0"/>
              <a:t> 笛卡尔空间运动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5E8B8D19-E850-1A1C-A2DE-982342C1B0E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33993" y="4649491"/>
            <a:ext cx="6819684" cy="1944923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B10509C0-CE4B-8D1D-5BF2-771E43F7E79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067946" y="4649491"/>
            <a:ext cx="6037020" cy="19449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Start XYZABC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：直线起点末端坐标姿态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End XYZABC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直线终点末端坐标姿态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Ref joints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对应点位的参考关节角度，可通过</a:t>
            </a:r>
            <a:r>
              <a:rPr lang="en" altLang="zh-CN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GetCur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读取当前点位匹配的关节值</a:t>
            </a:r>
          </a:p>
        </p:txBody>
      </p:sp>
      <p:pic>
        <p:nvPicPr>
          <p:cNvPr id="9" name="图片 8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780775D3-99A3-584D-4E87-7AA47E72B8D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9" t="47124" r="1896" b="24358"/>
          <a:stretch>
            <a:fillRect/>
          </a:stretch>
        </p:blipFill>
        <p:spPr>
          <a:xfrm>
            <a:off x="521505" y="1693242"/>
            <a:ext cx="11148989" cy="269691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D0792D2-1710-6EAD-F61A-59F8A80ECE99}"/>
              </a:ext>
            </a:extLst>
          </p:cNvPr>
          <p:cNvSpPr txBox="1"/>
          <p:nvPr/>
        </p:nvSpPr>
        <p:spPr>
          <a:xfrm>
            <a:off x="508000" y="4877724"/>
            <a:ext cx="3794774" cy="1341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" altLang="zh-CN" sz="20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Linear </a:t>
            </a:r>
            <a:r>
              <a:rPr lang="zh-CN" altLang="en-US" sz="20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单段笛卡尔直线插补</a:t>
            </a:r>
            <a:endParaRPr lang="en-US" altLang="zh-CN" sz="1200" dirty="0"/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zh-CN" altLang="en-US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直接输入末端位姿 </a:t>
            </a:r>
            <a:r>
              <a:rPr lang="en" altLang="zh-CN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XYZABC</a:t>
            </a:r>
            <a:r>
              <a:rPr lang="zh-CN" altLang="en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" altLang="zh-CN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X/Y/Z </a:t>
            </a:r>
            <a:r>
              <a:rPr lang="zh-CN" altLang="en-US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空间坐标 </a:t>
            </a:r>
            <a:r>
              <a:rPr lang="en-US" altLang="zh-CN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 </a:t>
            </a:r>
            <a:r>
              <a:rPr lang="en" altLang="zh-CN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A/B/C </a:t>
            </a:r>
            <a:r>
              <a:rPr lang="zh-CN" altLang="en-US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欧拉角姿态），两点之间走标准空间直线，姿态同步平滑过渡</a:t>
            </a:r>
          </a:p>
        </p:txBody>
      </p:sp>
    </p:spTree>
    <p:extLst>
      <p:ext uri="{BB962C8B-B14F-4D97-AF65-F5344CB8AC3E}">
        <p14:creationId xmlns:p14="http://schemas.microsoft.com/office/powerpoint/2010/main" val="1184220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008ACD-F163-63DD-632A-39D40FB11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0F3FC27-A99D-CA59-768D-87C8FD218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BD17F7A-AD54-3560-A8F5-60C793BDA4F8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27B01F1-8ECD-A176-8A02-C9FF8B518E9A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152BD0B8-A353-193D-86F9-CE587F05F0A3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3BDEF573-B71D-A8F2-B149-B49FD919202F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4.4.4</a:t>
            </a:r>
            <a:r>
              <a:rPr kumimoji="1" lang="zh-CN" altLang="en-US" sz="2400" b="1" dirty="0"/>
              <a:t> 运动规划 </a:t>
            </a:r>
            <a:r>
              <a:rPr kumimoji="1" lang="en-US" altLang="zh-CN" sz="2400" b="1" dirty="0"/>
              <a:t>-</a:t>
            </a:r>
            <a:r>
              <a:rPr kumimoji="1" lang="zh-CN" altLang="en-US" sz="2400" b="1" dirty="0"/>
              <a:t> 笛卡尔空间运动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76DE1A3-DFE8-4D5A-E745-AEF696C1948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502617" y="4366126"/>
            <a:ext cx="7951060" cy="2228289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4" name="图片 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2D82176A-2999-CBCC-8250-C83753A17E4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5559" b="33435"/>
          <a:stretch>
            <a:fillRect/>
          </a:stretch>
        </p:blipFill>
        <p:spPr>
          <a:xfrm>
            <a:off x="605740" y="1795760"/>
            <a:ext cx="10945678" cy="2355766"/>
          </a:xfrm>
          <a:prstGeom prst="rect">
            <a:avLst/>
          </a:prstGeom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984F6E58-8439-DC19-776D-431EF3F2E20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797085" y="4366125"/>
            <a:ext cx="7361695" cy="22282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start joints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：整条轨迹的初始起点关节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Add XYZABC + Add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按钮：输入点位后点击 </a:t>
            </a: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Add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追加到轨迹列表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All points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下拉框查看所有已存入的轨迹点位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Allow Range 5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：点位到达允许误差阈值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ZSP Type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ZSP Params [0,0,-1,0,0,0]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：零空间类型 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零空间参数，约束手臂使得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关节的角度尽量靠近零，然后使得手臂尽可能伸直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9226CD31-F39B-929E-3A7F-E7C05A8BBE6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05740" y="4366125"/>
            <a:ext cx="2726810" cy="22282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Linear (multi-segment) </a:t>
            </a: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多段连续直线</a:t>
            </a:r>
            <a:endParaRPr lang="en-US" sz="1100" dirty="0"/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用于连续多拐点作业，可依次添加多个点位，机械臂连续走完整条折线，不用分段点 </a:t>
            </a:r>
            <a:r>
              <a:rPr lang="en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Run</a:t>
            </a:r>
            <a:endParaRPr lang="zh-CN" altLang="en-US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8229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B0D5E-671F-9BAE-A4CC-226D7AD4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68A8056-5485-84BF-0A22-930D4CA3B2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9991731-0705-4BA6-6FC4-C6206FDCE710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A98C9C3-F98E-FC49-82ED-7EB04BD0FEC0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2C94FF3-1594-5999-5262-736B2BA28DBE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12957926-E7C6-8553-49BB-62E20AFCA320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4.4.5</a:t>
            </a:r>
            <a:r>
              <a:rPr kumimoji="1" lang="zh-CN" altLang="en-US" sz="2400" b="1" dirty="0"/>
              <a:t> 运动规划 </a:t>
            </a:r>
            <a:r>
              <a:rPr kumimoji="1" lang="en-US" altLang="zh-CN" sz="2400" b="1" dirty="0"/>
              <a:t>-</a:t>
            </a:r>
            <a:r>
              <a:rPr kumimoji="1" lang="zh-CN" altLang="en-US" sz="2400" b="1" dirty="0"/>
              <a:t> 笛卡尔空间运动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2950C9BD-9EC5-6C4D-A567-EF81D734A83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819973" y="4366126"/>
            <a:ext cx="6633704" cy="2228289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4" name="图片 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83E555F5-0D97-08BD-AB58-0902E2102F0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7712" b="1282"/>
          <a:stretch>
            <a:fillRect/>
          </a:stretch>
        </p:blipFill>
        <p:spPr>
          <a:xfrm>
            <a:off x="605740" y="1795760"/>
            <a:ext cx="10945678" cy="2355766"/>
          </a:xfrm>
          <a:prstGeom prst="rect">
            <a:avLst/>
          </a:prstGeom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FA3115ED-3E8C-FC08-3F25-E911947C100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193238" y="4366125"/>
            <a:ext cx="5965542" cy="22282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start joints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：双臂各自起始关节角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Start XYZABC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双臂起始笛卡尔位姿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End XYZABC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：双臂各自目标终点位姿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ZSP Type/Params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：零空间类型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零空间参数设置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68E59D98-DFD8-DD29-230E-FB0C7795FBA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05740" y="4366125"/>
            <a:ext cx="3981758" cy="22282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Arms Synchronous Linear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双臂同步直线运动</a:t>
            </a:r>
            <a:endParaRPr lang="en-US" altLang="zh-CN" sz="1900" b="1" dirty="0">
              <a:solidFill>
                <a:srgbClr val="28A745"/>
              </a:solidFill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Arm0</a:t>
            </a:r>
            <a:r>
              <a:rPr lang="zh-CN" altLang="e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Arm1 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同步启动、同步走完直线，保证双臂运动时序完全对齐（用于协同抓取、对称作业）</a:t>
            </a:r>
          </a:p>
        </p:txBody>
      </p:sp>
    </p:spTree>
    <p:extLst>
      <p:ext uri="{BB962C8B-B14F-4D97-AF65-F5344CB8AC3E}">
        <p14:creationId xmlns:p14="http://schemas.microsoft.com/office/powerpoint/2010/main" val="2507298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9"/>
          <a:srcRect l="5882" r="5882"/>
          <a:stretch>
            <a:fillRect/>
          </a:stretch>
        </p:blipFill>
        <p:spPr>
          <a:xfrm>
            <a:off x="508000" y="1800542"/>
            <a:ext cx="4264025" cy="4648200"/>
          </a:xfrm>
          <a:prstGeom prst="roundRect">
            <a:avLst>
              <a:gd name="adj" fmla="val 4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117353" y="1624022"/>
            <a:ext cx="647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71353" y="1827222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069853" y="1776422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区域安全：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操作前务必确认机器人工作区域内没有人员或障碍物</a:t>
            </a:r>
            <a:endParaRPr lang="en-US" sz="1100" dirty="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5117353" y="2640022"/>
            <a:ext cx="647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371353" y="2843222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6069853" y="2792422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低速测试：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首次运行新程序或调整参数后，务必使用低速进行测试</a:t>
            </a:r>
            <a:endParaRPr lang="en-US" sz="1100" dirty="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5117353" y="3656022"/>
            <a:ext cx="647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371353" y="3859222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069853" y="3808422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紧急停止：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任何紧急情况下，立即使用红色的物理急停按钮</a:t>
            </a:r>
            <a:endParaRPr lang="en-US" sz="1100" dirty="0"/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5117353" y="4672022"/>
            <a:ext cx="647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371353" y="4875222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6069853" y="4824422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参数备份：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定期备份系统参数，以防数据丢失</a:t>
            </a:r>
            <a:endParaRPr lang="en-US" sz="1100" dirty="0"/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5117353" y="5688022"/>
            <a:ext cx="647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371353" y="5891222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6069853" y="5840422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专业培训：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操作员必须经过专业培训，熟悉操作流程和安全规范</a:t>
            </a:r>
            <a:endParaRPr lang="en-US" sz="1100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3BD8538-6399-886F-C146-20E8AF0E7F68}"/>
              </a:ext>
            </a:extLst>
          </p:cNvPr>
          <p:cNvGrpSpPr/>
          <p:nvPr/>
        </p:nvGrpSpPr>
        <p:grpSpPr>
          <a:xfrm>
            <a:off x="-16933" y="0"/>
            <a:ext cx="12192000" cy="900113"/>
            <a:chOff x="0" y="-1"/>
            <a:chExt cx="12192000" cy="90011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F999BDF-31B2-007D-7B90-C9BD27E1DB64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FD8FBC43-EDC9-068E-5477-72A7F5890DB9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、安全与支持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文本框 13">
            <a:extLst>
              <a:ext uri="{FF2B5EF4-FFF2-40B4-BE49-F238E27FC236}">
                <a16:creationId xmlns:a16="http://schemas.microsoft.com/office/drawing/2014/main" id="{D96A2CB6-4A2A-6CBE-C312-40730024C9B2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5.1</a:t>
            </a:r>
            <a:r>
              <a:rPr kumimoji="1" lang="zh-CN" altLang="en-US" sz="2400" b="1" dirty="0"/>
              <a:t> 安全操作注意事项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>
            <a:extLst>
              <a:ext uri="{FF2B5EF4-FFF2-40B4-BE49-F238E27FC236}">
                <a16:creationId xmlns:a16="http://schemas.microsoft.com/office/drawing/2014/main" id="{A3FADACA-B5C7-9BBB-3700-38E6C3AA07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777999"/>
            <a:ext cx="5207000" cy="4543287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21590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2133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联系我们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143000" y="3175000"/>
            <a:ext cx="4445000" cy="1143000"/>
          </a:xfrm>
          <a:prstGeom prst="roundRect">
            <a:avLst>
              <a:gd name="adj" fmla="val 8888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7000" y="3492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3365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技术支持热线</a:t>
            </a:r>
            <a:r>
              <a:rPr lang="en-US" sz="14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(7x24小时)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altLang="zh-CN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(0769) 22892095 - 3035</a:t>
            </a:r>
          </a:p>
        </p:txBody>
      </p:sp>
      <p:sp>
        <p:nvSpPr>
          <p:cNvPr id="9" name="AutoShape 9"/>
          <p:cNvSpPr/>
          <p:nvPr/>
        </p:nvSpPr>
        <p:spPr>
          <a:xfrm>
            <a:off x="1143000" y="4572000"/>
            <a:ext cx="4445000" cy="1143000"/>
          </a:xfrm>
          <a:prstGeom prst="roundRect">
            <a:avLst>
              <a:gd name="adj" fmla="val 8888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7000" y="4889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159000" y="4762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官方网站</a:t>
            </a:r>
            <a:r>
              <a:rPr lang="en-US" sz="14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/ </a:t>
            </a:r>
            <a:r>
              <a:rPr lang="en-US" sz="14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知识库中心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altLang="zh-CN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</a:t>
            </a:r>
            <a:r>
              <a:rPr lang="en-US" altLang="zh-CN" sz="20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www.tianjizn.com</a:t>
            </a:r>
            <a:endParaRPr lang="en-US" altLang="zh-CN" sz="2000" b="1" i="0" u="none" strike="noStrike" dirty="0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1777999"/>
            <a:ext cx="5207000" cy="4543287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159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239000" y="2133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版本信息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3175000"/>
            <a:ext cx="4445000" cy="1143000"/>
          </a:xfrm>
          <a:prstGeom prst="roundRect">
            <a:avLst>
              <a:gd name="adj" fmla="val 8888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8000" y="3492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620000" y="3365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当前软件版本号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V1004 Rev1.2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604000" y="4572000"/>
            <a:ext cx="4445000" cy="1143000"/>
          </a:xfrm>
          <a:prstGeom prst="roundRect">
            <a:avLst>
              <a:gd name="adj" fmla="val 8888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58000" y="4889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620000" y="4762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手册内容最后更新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</a:t>
            </a:r>
            <a:r>
              <a:rPr lang="en-US" altLang="zh-CN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r>
              <a:rPr lang="en-US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altLang="zh-CN" sz="2000" b="1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25</a:t>
            </a:r>
            <a:r>
              <a:rPr lang="en-US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B6D9FAF-4EBE-D293-FFEE-4712F534D31C}"/>
              </a:ext>
            </a:extLst>
          </p:cNvPr>
          <p:cNvGrpSpPr/>
          <p:nvPr/>
        </p:nvGrpSpPr>
        <p:grpSpPr>
          <a:xfrm>
            <a:off x="-16933" y="0"/>
            <a:ext cx="12192000" cy="900113"/>
            <a:chOff x="0" y="-1"/>
            <a:chExt cx="12192000" cy="90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4A23618-F6E9-018C-001D-780A5C4893D1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24" name="AutoShape 3">
              <a:extLst>
                <a:ext uri="{FF2B5EF4-FFF2-40B4-BE49-F238E27FC236}">
                  <a16:creationId xmlns:a16="http://schemas.microsoft.com/office/drawing/2014/main" id="{39E15816-B748-C202-34DA-ADCB110BDF6D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、安全与支持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5" name="文本框 13">
            <a:extLst>
              <a:ext uri="{FF2B5EF4-FFF2-40B4-BE49-F238E27FC236}">
                <a16:creationId xmlns:a16="http://schemas.microsoft.com/office/drawing/2014/main" id="{BA7DA0AE-7187-7DA6-5F96-6775382B489E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5.2</a:t>
            </a:r>
            <a:r>
              <a:rPr kumimoji="1" lang="zh-CN" altLang="en-US" sz="2400" b="1" dirty="0"/>
              <a:t> 技术支持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70,&quot;width&quot;:410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70,&quot;width&quot;:410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70,&quot;width&quot;:410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70,&quot;width&quot;:410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70,&quot;width&quot;:410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70,&quot;width&quot;:410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2972</TotalTime>
  <Words>1900</Words>
  <Application>Microsoft Macintosh PowerPoint</Application>
  <PresentationFormat>宽屏</PresentationFormat>
  <Paragraphs>301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Noto Sans SC</vt:lpstr>
      <vt:lpstr>STHeiti Light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耿鑫 吴</cp:lastModifiedBy>
  <cp:revision>14</cp:revision>
  <dcterms:created xsi:type="dcterms:W3CDTF">2026-05-03T05:21:26Z</dcterms:created>
  <dcterms:modified xsi:type="dcterms:W3CDTF">2026-06-29T03:00:14Z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EB9DBE09D84E40C4B712EDE74165B05A_12</vt:lpwstr>
  </property>
</Properties>
</file>